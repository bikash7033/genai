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580" r:id="rId3"/>
    <p:sldId id="581" r:id="rId4"/>
    <p:sldId id="582" r:id="rId5"/>
    <p:sldId id="583" r:id="rId6"/>
    <p:sldId id="584" r:id="rId7"/>
    <p:sldId id="585" r:id="rId8"/>
    <p:sldId id="586" r:id="rId9"/>
    <p:sldId id="587" r:id="rId10"/>
    <p:sldId id="588" r:id="rId11"/>
    <p:sldId id="589" r:id="rId12"/>
    <p:sldId id="590" r:id="rId13"/>
    <p:sldId id="591" r:id="rId14"/>
    <p:sldId id="592" r:id="rId15"/>
    <p:sldId id="593" r:id="rId16"/>
    <p:sldId id="594" r:id="rId17"/>
    <p:sldId id="595" r:id="rId18"/>
    <p:sldId id="596" r:id="rId19"/>
    <p:sldId id="59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7" d="100"/>
          <a:sy n="57" d="100"/>
        </p:scale>
        <p:origin x="101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92A54F-0E34-4381-A4A5-35D6571AAE09}" type="datetimeFigureOut">
              <a:rPr lang="en-IN" smtClean="0"/>
              <a:t>31-01-2026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A59AD-0D48-4744-A465-EF9AC16C4344}" type="slidenum">
              <a:rPr lang="en-IN" smtClean="0"/>
              <a:t>‹#›</a:t>
            </a:fld>
            <a:endParaRPr lang="en-IN"/>
          </a:p>
        </p:txBody>
      </p:sp>
    </p:spTree>
    <p:extLst>
      <p:ext uri="{BB962C8B-B14F-4D97-AF65-F5344CB8AC3E}">
        <p14:creationId xmlns:p14="http://schemas.microsoft.com/office/powerpoint/2010/main" val="3636374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rxiv.org/abs/1412.6806"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6"/>
        <p:cNvGrpSpPr/>
        <p:nvPr/>
      </p:nvGrpSpPr>
      <p:grpSpPr>
        <a:xfrm>
          <a:off x="0" y="0"/>
          <a:ext cx="0" cy="0"/>
          <a:chOff x="0" y="0"/>
          <a:chExt cx="0" cy="0"/>
        </a:xfrm>
      </p:grpSpPr>
      <p:sp>
        <p:nvSpPr>
          <p:cNvPr id="2317" name="Google Shape;2317;p30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8" name="Google Shape;2318;p3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p3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4" name="Google Shape;2324;p3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CNN have revolutionized computer vision and NLP, computer audition, reinforcement learning and many other areas.</a:t>
            </a:r>
            <a:endParaRPr/>
          </a:p>
          <a:p>
            <a:pPr marL="0" lvl="0" indent="0" algn="l" rtl="0">
              <a:spcBef>
                <a:spcPts val="0"/>
              </a:spcBef>
              <a:spcAft>
                <a:spcPts val="0"/>
              </a:spcAft>
              <a:buNone/>
            </a:pPr>
            <a:endParaRPr/>
          </a:p>
          <a:p>
            <a:pPr marL="0" lvl="0" indent="0" algn="l" rtl="0">
              <a:spcBef>
                <a:spcPts val="0"/>
              </a:spcBef>
              <a:spcAft>
                <a:spcPts val="0"/>
              </a:spcAft>
              <a:buNone/>
            </a:pPr>
            <a:r>
              <a:rPr lang="en-US" b="0" i="0">
                <a:solidFill>
                  <a:srgbClr val="333333"/>
                </a:solidFill>
                <a:latin typeface="Arial"/>
                <a:ea typeface="Arial"/>
                <a:cs typeface="Arial"/>
                <a:sym typeface="Arial"/>
              </a:rPr>
              <a:t>They extend neural networks primarily by introducing a new kind of layer, designed to improve the network’s ability to cope with variations in position, scale, and viewpoint. </a:t>
            </a:r>
            <a:endParaRPr/>
          </a:p>
        </p:txBody>
      </p:sp>
      <p:sp>
        <p:nvSpPr>
          <p:cNvPr id="2325" name="Google Shape;2325;p30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9"/>
        <p:cNvGrpSpPr/>
        <p:nvPr/>
      </p:nvGrpSpPr>
      <p:grpSpPr>
        <a:xfrm>
          <a:off x="0" y="0"/>
          <a:ext cx="0" cy="0"/>
          <a:chOff x="0" y="0"/>
          <a:chExt cx="0" cy="0"/>
        </a:xfrm>
      </p:grpSpPr>
      <p:sp>
        <p:nvSpPr>
          <p:cNvPr id="2330" name="Google Shape;2330;p3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1" name="Google Shape;2331;p30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333333"/>
                </a:solidFill>
                <a:latin typeface="Arial"/>
                <a:ea typeface="Arial"/>
                <a:cs typeface="Arial"/>
                <a:sym typeface="Arial"/>
              </a:rPr>
              <a:t>Despite these improvements, it’s still impractical for the network to be able to memorize the nearly endless set of permutations which would fully characterize a dataset of diverse images. In order to capture that much information, we’d need too many neurons for what we can practically afford to store or train. The advantage of convnets is that they will allow us to capture these permutations in a more efficient way.</a:t>
            </a:r>
            <a:endParaRPr/>
          </a:p>
          <a:p>
            <a:pPr marL="0" lvl="0" indent="0" algn="l" rtl="0">
              <a:spcBef>
                <a:spcPts val="0"/>
              </a:spcBef>
              <a:spcAft>
                <a:spcPts val="0"/>
              </a:spcAft>
              <a:buNone/>
            </a:pPr>
            <a:br>
              <a:rPr lang="en-US"/>
            </a:br>
            <a:r>
              <a:rPr lang="en-US" b="0" i="0">
                <a:solidFill>
                  <a:srgbClr val="333333"/>
                </a:solidFill>
                <a:latin typeface="Arial"/>
                <a:ea typeface="Arial"/>
                <a:cs typeface="Arial"/>
                <a:sym typeface="Arial"/>
              </a:rPr>
              <a:t>Suppose I show you a picture of a car that you’ve never seen before. Chances are you’ll be able to identify it as a car by observing that it is a permutation of the various properties of cars. In other words, the picture contains some combination of the parts that make up most cars, including a windshield, wheels, doors, and exhaust pipe. By recognizing each of the smaller parts and adding them up, you realize that this picture is of a car, despite having never encountered this precise combination of those parts.</a:t>
            </a:r>
            <a:endParaRPr/>
          </a:p>
          <a:p>
            <a:pPr marL="0" lvl="0" indent="0" algn="l" rtl="0">
              <a:spcBef>
                <a:spcPts val="0"/>
              </a:spcBef>
              <a:spcAft>
                <a:spcPts val="0"/>
              </a:spcAft>
              <a:buNone/>
            </a:pPr>
            <a:r>
              <a:rPr lang="en-US" b="0" i="0">
                <a:solidFill>
                  <a:srgbClr val="333333"/>
                </a:solidFill>
                <a:latin typeface="Arial"/>
                <a:ea typeface="Arial"/>
                <a:cs typeface="Arial"/>
                <a:sym typeface="Arial"/>
              </a:rPr>
              <a:t>A convnet tries to do something similar: learn the individual parts of objects and store them in individual neurons, then add them up to recognize the larger object. This approach is advantageous for two reasons. One is that we can capture a greater variety of a particular object within a smaller number of neurons. For example, suppose we memorize 10 templates for different types of wheels, 10 templates for doors, and 10 for windshields. We thus capture 10∗10∗10=100010∗10∗10=1000 different cars for the price of only 30 templates.</a:t>
            </a:r>
            <a:endParaRPr/>
          </a:p>
          <a:p>
            <a:pPr marL="0" lvl="0" indent="0" algn="l" rtl="0">
              <a:spcBef>
                <a:spcPts val="0"/>
              </a:spcBef>
              <a:spcAft>
                <a:spcPts val="0"/>
              </a:spcAft>
              <a:buNone/>
            </a:pPr>
            <a:endParaRPr/>
          </a:p>
          <a:p>
            <a:pPr marL="0" lvl="0" indent="0" algn="l" rtl="0">
              <a:spcBef>
                <a:spcPts val="0"/>
              </a:spcBef>
              <a:spcAft>
                <a:spcPts val="0"/>
              </a:spcAft>
              <a:buNone/>
            </a:pPr>
            <a:r>
              <a:rPr lang="en-US" b="0" i="0">
                <a:solidFill>
                  <a:srgbClr val="333333"/>
                </a:solidFill>
                <a:latin typeface="Arial"/>
                <a:ea typeface="Arial"/>
                <a:cs typeface="Arial"/>
                <a:sym typeface="Arial"/>
              </a:rPr>
              <a:t>This is much more efficient than keeping around 1000 separate templates for cars, which contain much redundancy within them. But even better, we can reuse the smaller templates for different object classes. Wagons also have wheels. Houses also have doors. Ships also have windshields. We can construct a set of many more object classes as various combinations of these smaller parts, and do so very efficiently.</a:t>
            </a:r>
            <a:endParaRPr/>
          </a:p>
        </p:txBody>
      </p:sp>
      <p:sp>
        <p:nvSpPr>
          <p:cNvPr id="2332" name="Google Shape;2332;p30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p:cNvGrpSpPr/>
        <p:nvPr/>
      </p:nvGrpSpPr>
      <p:grpSpPr>
        <a:xfrm>
          <a:off x="0" y="0"/>
          <a:ext cx="0" cy="0"/>
          <a:chOff x="0" y="0"/>
          <a:chExt cx="0" cy="0"/>
        </a:xfrm>
      </p:grpSpPr>
      <p:sp>
        <p:nvSpPr>
          <p:cNvPr id="2338" name="Google Shape;2338;p3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9" name="Google Shape;2339;p30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CNN are not very different from the neural networks we have discussed so far. They improve the functionality of neural network by introducing another layer called a convolutional layer to the mix</a:t>
            </a:r>
            <a:endParaRPr/>
          </a:p>
          <a:p>
            <a:pPr marL="0" lvl="0" indent="0" algn="l" rtl="0">
              <a:spcBef>
                <a:spcPts val="0"/>
              </a:spcBef>
              <a:spcAft>
                <a:spcPts val="0"/>
              </a:spcAft>
              <a:buNone/>
            </a:pPr>
            <a:endParaRPr/>
          </a:p>
          <a:p>
            <a:pPr marL="0" lvl="0" indent="0" algn="l" rtl="0">
              <a:spcBef>
                <a:spcPts val="0"/>
              </a:spcBef>
              <a:spcAft>
                <a:spcPts val="0"/>
              </a:spcAft>
              <a:buNone/>
            </a:pPr>
            <a:r>
              <a:rPr lang="en-US" b="0" i="0">
                <a:solidFill>
                  <a:srgbClr val="333333"/>
                </a:solidFill>
                <a:latin typeface="Arial"/>
                <a:ea typeface="Arial"/>
                <a:cs typeface="Arial"/>
                <a:sym typeface="Arial"/>
              </a:rPr>
              <a:t>We can interpret the set of weights as a </a:t>
            </a:r>
            <a:r>
              <a:rPr lang="en-US" b="0" i="1">
                <a:solidFill>
                  <a:srgbClr val="333333"/>
                </a:solidFill>
                <a:latin typeface="Arial"/>
                <a:ea typeface="Arial"/>
                <a:cs typeface="Arial"/>
                <a:sym typeface="Arial"/>
              </a:rPr>
              <a:t>feature detector</a:t>
            </a:r>
            <a:r>
              <a:rPr lang="en-US" b="0" i="0">
                <a:solidFill>
                  <a:srgbClr val="333333"/>
                </a:solidFill>
                <a:latin typeface="Arial"/>
                <a:ea typeface="Arial"/>
                <a:cs typeface="Arial"/>
                <a:sym typeface="Arial"/>
              </a:rPr>
              <a:t> which is trying to detect the presence of a particular feature. We can visualize these feature detectors, as we did previously for MNIST and CIFAR. In a 1-layer fully-connected layer, the “features” are simply the image classes themselves, and thus the weights appear as templates for the entire classes</a:t>
            </a:r>
            <a:endParaRPr/>
          </a:p>
        </p:txBody>
      </p:sp>
      <p:sp>
        <p:nvSpPr>
          <p:cNvPr id="2340" name="Google Shape;2340;p30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4"/>
        <p:cNvGrpSpPr/>
        <p:nvPr/>
      </p:nvGrpSpPr>
      <p:grpSpPr>
        <a:xfrm>
          <a:off x="0" y="0"/>
          <a:ext cx="0" cy="0"/>
          <a:chOff x="0" y="0"/>
          <a:chExt cx="0" cy="0"/>
        </a:xfrm>
      </p:grpSpPr>
      <p:sp>
        <p:nvSpPr>
          <p:cNvPr id="2345" name="Google Shape;2345;p3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6" name="Google Shape;2346;p3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333333"/>
                </a:solidFill>
                <a:latin typeface="Arial"/>
                <a:ea typeface="Arial"/>
                <a:cs typeface="Arial"/>
                <a:sym typeface="Arial"/>
              </a:rPr>
              <a:t>In convolutional layers, we have a collection of smaller feature detectors called </a:t>
            </a:r>
            <a:r>
              <a:rPr lang="en-US" b="0" i="1">
                <a:solidFill>
                  <a:srgbClr val="333333"/>
                </a:solidFill>
                <a:latin typeface="Arial"/>
                <a:ea typeface="Arial"/>
                <a:cs typeface="Arial"/>
                <a:sym typeface="Arial"/>
              </a:rPr>
              <a:t>convolutional filters</a:t>
            </a:r>
            <a:r>
              <a:rPr lang="en-US" b="0" i="0">
                <a:solidFill>
                  <a:srgbClr val="333333"/>
                </a:solidFill>
                <a:latin typeface="Arial"/>
                <a:ea typeface="Arial"/>
                <a:cs typeface="Arial"/>
                <a:sym typeface="Arial"/>
              </a:rPr>
              <a:t> which we individually slide along the entire image and perform the same weighted sum operation as before, on each subregion of the image. Essentially, for each of these small filters, we generate a map of responses–called an </a:t>
            </a:r>
            <a:r>
              <a:rPr lang="en-US" b="0" i="1">
                <a:solidFill>
                  <a:srgbClr val="333333"/>
                </a:solidFill>
                <a:latin typeface="Arial"/>
                <a:ea typeface="Arial"/>
                <a:cs typeface="Arial"/>
                <a:sym typeface="Arial"/>
              </a:rPr>
              <a:t>activation map</a:t>
            </a:r>
            <a:r>
              <a:rPr lang="en-US" b="0" i="0">
                <a:solidFill>
                  <a:srgbClr val="333333"/>
                </a:solidFill>
                <a:latin typeface="Arial"/>
                <a:ea typeface="Arial"/>
                <a:cs typeface="Arial"/>
                <a:sym typeface="Arial"/>
              </a:rPr>
              <a:t>–which indicate the presence of that feature across the image.</a:t>
            </a:r>
            <a:endParaRPr/>
          </a:p>
        </p:txBody>
      </p:sp>
      <p:sp>
        <p:nvSpPr>
          <p:cNvPr id="2347" name="Google Shape;2347;p3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p3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4" name="Google Shape;2354;p3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333333"/>
                </a:solidFill>
                <a:latin typeface="Arial"/>
                <a:ea typeface="Arial"/>
                <a:cs typeface="Arial"/>
                <a:sym typeface="Arial"/>
              </a:rPr>
              <a:t>In convolutional layers, we instead have a collection of smaller feature detectors called </a:t>
            </a:r>
            <a:r>
              <a:rPr lang="en-US" b="0" i="1">
                <a:solidFill>
                  <a:srgbClr val="333333"/>
                </a:solidFill>
                <a:latin typeface="Arial"/>
                <a:ea typeface="Arial"/>
                <a:cs typeface="Arial"/>
                <a:sym typeface="Arial"/>
              </a:rPr>
              <a:t>convolutional filters</a:t>
            </a:r>
            <a:r>
              <a:rPr lang="en-US" b="0" i="0">
                <a:solidFill>
                  <a:srgbClr val="333333"/>
                </a:solidFill>
                <a:latin typeface="Arial"/>
                <a:ea typeface="Arial"/>
                <a:cs typeface="Arial"/>
                <a:sym typeface="Arial"/>
              </a:rPr>
              <a:t> </a:t>
            </a:r>
            <a:endParaRPr/>
          </a:p>
          <a:p>
            <a:pPr marL="0" lvl="0" indent="0" algn="l" rtl="0">
              <a:spcBef>
                <a:spcPts val="0"/>
              </a:spcBef>
              <a:spcAft>
                <a:spcPts val="0"/>
              </a:spcAft>
              <a:buNone/>
            </a:pPr>
            <a:r>
              <a:rPr lang="en-US" b="0" i="0">
                <a:solidFill>
                  <a:srgbClr val="333333"/>
                </a:solidFill>
                <a:latin typeface="Arial"/>
                <a:ea typeface="Arial"/>
                <a:cs typeface="Arial"/>
                <a:sym typeface="Arial"/>
              </a:rPr>
              <a:t>which we individually slide along the entire image and perform the same weighted sum operation as before, on each subregion of the image. Essentially, for each of these small filters, we generate a map of responses–called an </a:t>
            </a:r>
            <a:r>
              <a:rPr lang="en-US" b="0" i="1">
                <a:solidFill>
                  <a:srgbClr val="333333"/>
                </a:solidFill>
                <a:latin typeface="Arial"/>
                <a:ea typeface="Arial"/>
                <a:cs typeface="Arial"/>
                <a:sym typeface="Arial"/>
              </a:rPr>
              <a:t>activation map</a:t>
            </a:r>
            <a:r>
              <a:rPr lang="en-US" b="0" i="0">
                <a:solidFill>
                  <a:srgbClr val="333333"/>
                </a:solidFill>
                <a:latin typeface="Arial"/>
                <a:ea typeface="Arial"/>
                <a:cs typeface="Arial"/>
                <a:sym typeface="Arial"/>
              </a:rPr>
              <a:t>–which indicates the presence of that feature across the image.</a:t>
            </a:r>
            <a:endParaRPr/>
          </a:p>
          <a:p>
            <a:pPr marL="0" lvl="0" indent="0" algn="l" rtl="0">
              <a:spcBef>
                <a:spcPts val="0"/>
              </a:spcBef>
              <a:spcAft>
                <a:spcPts val="0"/>
              </a:spcAft>
              <a:buNone/>
            </a:pPr>
            <a:endParaRPr b="0" i="0">
              <a:solidFill>
                <a:srgbClr val="333333"/>
              </a:solidFill>
              <a:latin typeface="Arial"/>
              <a:ea typeface="Arial"/>
              <a:cs typeface="Arial"/>
              <a:sym typeface="Arial"/>
            </a:endParaRPr>
          </a:p>
          <a:p>
            <a:pPr marL="0" lvl="0" indent="0" algn="l" rtl="0">
              <a:spcBef>
                <a:spcPts val="0"/>
              </a:spcBef>
              <a:spcAft>
                <a:spcPts val="0"/>
              </a:spcAft>
              <a:buNone/>
            </a:pPr>
            <a:r>
              <a:rPr lang="en-US" b="0" i="0">
                <a:solidFill>
                  <a:srgbClr val="333333"/>
                </a:solidFill>
                <a:latin typeface="Arial"/>
                <a:ea typeface="Arial"/>
                <a:cs typeface="Arial"/>
                <a:sym typeface="Arial"/>
              </a:rPr>
              <a:t> the filters are just collections of weights, just like all of the other weights we’ve discussed in previous chapters</a:t>
            </a:r>
            <a:endParaRPr/>
          </a:p>
          <a:p>
            <a:pPr marL="0" lvl="0" indent="0" algn="l" rtl="0">
              <a:spcBef>
                <a:spcPts val="0"/>
              </a:spcBef>
              <a:spcAft>
                <a:spcPts val="0"/>
              </a:spcAft>
              <a:buNone/>
            </a:pPr>
            <a:r>
              <a:rPr lang="en-US" b="0" i="0">
                <a:solidFill>
                  <a:srgbClr val="333333"/>
                </a:solidFill>
                <a:latin typeface="Arial"/>
                <a:ea typeface="Arial"/>
                <a:cs typeface="Arial"/>
                <a:sym typeface="Arial"/>
              </a:rPr>
              <a:t>They are parameters which are learned during the process of training. </a:t>
            </a:r>
            <a:endParaRPr/>
          </a:p>
        </p:txBody>
      </p:sp>
      <p:sp>
        <p:nvSpPr>
          <p:cNvPr id="2355" name="Google Shape;2355;p3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3"/>
        <p:cNvGrpSpPr/>
        <p:nvPr/>
      </p:nvGrpSpPr>
      <p:grpSpPr>
        <a:xfrm>
          <a:off x="0" y="0"/>
          <a:ext cx="0" cy="0"/>
          <a:chOff x="0" y="0"/>
          <a:chExt cx="0" cy="0"/>
        </a:xfrm>
      </p:grpSpPr>
      <p:sp>
        <p:nvSpPr>
          <p:cNvPr id="2364" name="Google Shape;2364;p3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5" name="Google Shape;2365;p3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000000"/>
                </a:solidFill>
                <a:latin typeface="Arial"/>
                <a:ea typeface="Arial"/>
                <a:cs typeface="Arial"/>
                <a:sym typeface="Arial"/>
              </a:rPr>
              <a:t>The resulting activation map (on the right) shows the presence of the feature map -- or roughly patterns in the input which resemble the filter itself. </a:t>
            </a:r>
            <a:endParaRPr/>
          </a:p>
          <a:p>
            <a:pPr marL="0" lvl="0" indent="0" algn="l" rtl="0">
              <a:spcBef>
                <a:spcPts val="0"/>
              </a:spcBef>
              <a:spcAft>
                <a:spcPts val="0"/>
              </a:spcAft>
              <a:buNone/>
            </a:pPr>
            <a:endParaRPr b="0" i="0">
              <a:solidFill>
                <a:srgbClr val="000000"/>
              </a:solidFill>
              <a:latin typeface="Arial"/>
              <a:ea typeface="Arial"/>
              <a:cs typeface="Arial"/>
              <a:sym typeface="Arial"/>
            </a:endParaRPr>
          </a:p>
          <a:p>
            <a:pPr marL="0" lvl="0" indent="0" algn="l" rtl="0">
              <a:spcBef>
                <a:spcPts val="0"/>
              </a:spcBef>
              <a:spcAft>
                <a:spcPts val="0"/>
              </a:spcAft>
              <a:buNone/>
            </a:pPr>
            <a:r>
              <a:rPr lang="en-US" b="0" i="0">
                <a:solidFill>
                  <a:srgbClr val="333333"/>
                </a:solidFill>
                <a:latin typeface="Arial"/>
                <a:ea typeface="Arial"/>
                <a:cs typeface="Arial"/>
                <a:sym typeface="Arial"/>
              </a:rPr>
              <a:t> since we have 7 filters generating 25∗25 sized maps, we have 8∗25∗25=5000 neurons in the next layer.</a:t>
            </a:r>
            <a:endParaRPr/>
          </a:p>
        </p:txBody>
      </p:sp>
      <p:sp>
        <p:nvSpPr>
          <p:cNvPr id="2366" name="Google Shape;2366;p3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0"/>
        <p:cNvGrpSpPr/>
        <p:nvPr/>
      </p:nvGrpSpPr>
      <p:grpSpPr>
        <a:xfrm>
          <a:off x="0" y="0"/>
          <a:ext cx="0" cy="0"/>
          <a:chOff x="0" y="0"/>
          <a:chExt cx="0" cy="0"/>
        </a:xfrm>
      </p:grpSpPr>
      <p:sp>
        <p:nvSpPr>
          <p:cNvPr id="2371" name="Google Shape;2371;p3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2" name="Google Shape;2372;p3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7"/>
        <p:cNvGrpSpPr/>
        <p:nvPr/>
      </p:nvGrpSpPr>
      <p:grpSpPr>
        <a:xfrm>
          <a:off x="0" y="0"/>
          <a:ext cx="0" cy="0"/>
          <a:chOff x="0" y="0"/>
          <a:chExt cx="0" cy="0"/>
        </a:xfrm>
      </p:grpSpPr>
      <p:sp>
        <p:nvSpPr>
          <p:cNvPr id="2378" name="Google Shape;2378;p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9" name="Google Shape;2379;p3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333333"/>
                </a:solidFill>
                <a:latin typeface="Arial"/>
                <a:ea typeface="Arial"/>
                <a:cs typeface="Arial"/>
                <a:sym typeface="Arial"/>
              </a:rPr>
              <a:t>The pooling operation is used to downsample the activation maps, usually by a factor of 2 in both dimensions. The most common way of doing this is </a:t>
            </a:r>
            <a:r>
              <a:rPr lang="en-US" b="0" i="1">
                <a:solidFill>
                  <a:srgbClr val="333333"/>
                </a:solidFill>
                <a:latin typeface="Arial"/>
                <a:ea typeface="Arial"/>
                <a:cs typeface="Arial"/>
                <a:sym typeface="Arial"/>
              </a:rPr>
              <a:t>max pooling</a:t>
            </a:r>
            <a:r>
              <a:rPr lang="en-US" b="0" i="0">
                <a:solidFill>
                  <a:srgbClr val="333333"/>
                </a:solidFill>
                <a:latin typeface="Arial"/>
                <a:ea typeface="Arial"/>
                <a:cs typeface="Arial"/>
                <a:sym typeface="Arial"/>
              </a:rPr>
              <a:t> which merges the pixels in adjacent 2x2 cells by taking the maximum value among them. The figure below shows an example of this.</a:t>
            </a:r>
            <a:endParaRPr/>
          </a:p>
          <a:p>
            <a:pPr marL="0" lvl="0" indent="0" algn="l" rtl="0">
              <a:spcBef>
                <a:spcPts val="0"/>
              </a:spcBef>
              <a:spcAft>
                <a:spcPts val="0"/>
              </a:spcAft>
              <a:buNone/>
            </a:pPr>
            <a:br>
              <a:rPr lang="en-US" b="0" i="0">
                <a:solidFill>
                  <a:srgbClr val="000000"/>
                </a:solidFill>
                <a:latin typeface="Arial"/>
                <a:ea typeface="Arial"/>
                <a:cs typeface="Arial"/>
                <a:sym typeface="Arial"/>
              </a:rPr>
            </a:br>
            <a:endParaRPr/>
          </a:p>
        </p:txBody>
      </p:sp>
      <p:sp>
        <p:nvSpPr>
          <p:cNvPr id="2380" name="Google Shape;2380;p3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5"/>
        <p:cNvGrpSpPr/>
        <p:nvPr/>
      </p:nvGrpSpPr>
      <p:grpSpPr>
        <a:xfrm>
          <a:off x="0" y="0"/>
          <a:ext cx="0" cy="0"/>
          <a:chOff x="0" y="0"/>
          <a:chExt cx="0" cy="0"/>
        </a:xfrm>
      </p:grpSpPr>
      <p:sp>
        <p:nvSpPr>
          <p:cNvPr id="2386" name="Google Shape;2386;p3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7" name="Google Shape;2387;p3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333333"/>
                </a:solidFill>
                <a:latin typeface="Arial"/>
                <a:ea typeface="Arial"/>
                <a:cs typeface="Arial"/>
                <a:sym typeface="Arial"/>
              </a:rPr>
              <a:t>The advantage of pooling is that it gives us a way to compactify the amount of data without losing too much information, and create some invariance to translational shift in the original image. The operation is also very cheap since there are no weights or parameters to learn.</a:t>
            </a:r>
            <a:endParaRPr/>
          </a:p>
          <a:p>
            <a:pPr marL="0" lvl="0" indent="0" algn="l" rtl="0">
              <a:spcBef>
                <a:spcPts val="0"/>
              </a:spcBef>
              <a:spcAft>
                <a:spcPts val="0"/>
              </a:spcAft>
              <a:buNone/>
            </a:pPr>
            <a:br>
              <a:rPr lang="en-US"/>
            </a:br>
            <a:endParaRPr b="0" i="0">
              <a:solidFill>
                <a:srgbClr val="000000"/>
              </a:solidFill>
              <a:latin typeface="Arial"/>
              <a:ea typeface="Arial"/>
              <a:cs typeface="Arial"/>
              <a:sym typeface="Arial"/>
            </a:endParaRPr>
          </a:p>
          <a:p>
            <a:pPr marL="0" lvl="0" indent="0" algn="l" rtl="0">
              <a:spcBef>
                <a:spcPts val="0"/>
              </a:spcBef>
              <a:spcAft>
                <a:spcPts val="0"/>
              </a:spcAft>
              <a:buNone/>
            </a:pPr>
            <a:r>
              <a:rPr lang="en-US" b="0" i="0">
                <a:solidFill>
                  <a:srgbClr val="333333"/>
                </a:solidFill>
                <a:latin typeface="Arial"/>
                <a:ea typeface="Arial"/>
                <a:cs typeface="Arial"/>
                <a:sym typeface="Arial"/>
              </a:rPr>
              <a:t>Recently, pooling layers have begun to gradually fall out of favor. Some architectures have incorporated the downsampling operation into the convolutional layers themselves by using a stride of 2 instead of 1, making the convolutional filters skip over pixels, and result in activation maps half the size. These </a:t>
            </a:r>
            <a:r>
              <a:rPr lang="en-US" b="0" i="0" u="sng" strike="noStrik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“all-convolutional nets”</a:t>
            </a:r>
            <a:r>
              <a:rPr lang="en-US" b="0" i="0">
                <a:solidFill>
                  <a:srgbClr val="333333"/>
                </a:solidFill>
                <a:latin typeface="Arial"/>
                <a:ea typeface="Arial"/>
                <a:cs typeface="Arial"/>
                <a:sym typeface="Arial"/>
              </a:rPr>
              <a:t> have some important advantages and are becoming increasingly common, but have not yet totally eliminated pooling in practice.</a:t>
            </a:r>
            <a:endParaRPr/>
          </a:p>
          <a:p>
            <a:pPr marL="0" lvl="0" indent="0" algn="l" rtl="0">
              <a:spcBef>
                <a:spcPts val="0"/>
              </a:spcBef>
              <a:spcAft>
                <a:spcPts val="0"/>
              </a:spcAft>
              <a:buNone/>
            </a:pPr>
            <a:br>
              <a:rPr lang="en-US"/>
            </a:br>
            <a:br>
              <a:rPr lang="en-US" b="0" i="0">
                <a:solidFill>
                  <a:srgbClr val="000000"/>
                </a:solidFill>
                <a:latin typeface="Arial"/>
                <a:ea typeface="Arial"/>
                <a:cs typeface="Arial"/>
                <a:sym typeface="Arial"/>
              </a:rPr>
            </a:br>
            <a:endParaRPr/>
          </a:p>
          <a:p>
            <a:pPr marL="0" lvl="0" indent="0" algn="l" rtl="0">
              <a:spcBef>
                <a:spcPts val="0"/>
              </a:spcBef>
              <a:spcAft>
                <a:spcPts val="0"/>
              </a:spcAft>
              <a:buNone/>
            </a:pPr>
            <a:endParaRPr/>
          </a:p>
        </p:txBody>
      </p:sp>
      <p:sp>
        <p:nvSpPr>
          <p:cNvPr id="2388" name="Google Shape;2388;p3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3"/>
        <p:cNvGrpSpPr/>
        <p:nvPr/>
      </p:nvGrpSpPr>
      <p:grpSpPr>
        <a:xfrm>
          <a:off x="0" y="0"/>
          <a:ext cx="0" cy="0"/>
          <a:chOff x="0" y="0"/>
          <a:chExt cx="0" cy="0"/>
        </a:xfrm>
      </p:grpSpPr>
      <p:sp>
        <p:nvSpPr>
          <p:cNvPr id="2394" name="Google Shape;2394;p3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5" name="Google Shape;2395;p3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333333"/>
                </a:solidFill>
                <a:latin typeface="Arial"/>
                <a:ea typeface="Arial"/>
                <a:cs typeface="Arial"/>
                <a:sym typeface="Arial"/>
              </a:rPr>
              <a:t>In this sense, we can think of the original image as a volume of data. Let’s consider the previous example. Our original image is 28 x 28 pixels and is grayscale (1 channel). Thus it is a volume whose dimensions are 28x28x1. In the first convolutional layer, we convolved it with 8 filters whose dimensions are 5x5x1. This gave us 8 activation maps of size 24x24. Thus the output from the convolutional layer is size 24x24x8. After max-pooling it, it’s 12x12x8.</a:t>
            </a:r>
            <a:endParaRPr/>
          </a:p>
          <a:p>
            <a:pPr marL="0" lvl="0" indent="0" algn="l" rtl="0">
              <a:spcBef>
                <a:spcPts val="0"/>
              </a:spcBef>
              <a:spcAft>
                <a:spcPts val="0"/>
              </a:spcAft>
              <a:buNone/>
            </a:pPr>
            <a:endParaRPr b="0" i="0">
              <a:solidFill>
                <a:srgbClr val="333333"/>
              </a:solidFill>
              <a:latin typeface="Arial"/>
              <a:ea typeface="Arial"/>
              <a:cs typeface="Arial"/>
              <a:sym typeface="Arial"/>
            </a:endParaRPr>
          </a:p>
          <a:p>
            <a:pPr marL="0" lvl="0" indent="0" algn="l" rtl="0">
              <a:spcBef>
                <a:spcPts val="0"/>
              </a:spcBef>
              <a:spcAft>
                <a:spcPts val="0"/>
              </a:spcAft>
              <a:buNone/>
            </a:pPr>
            <a:r>
              <a:rPr lang="en-US" b="0" i="0">
                <a:solidFill>
                  <a:srgbClr val="333333"/>
                </a:solidFill>
                <a:latin typeface="Arial"/>
                <a:ea typeface="Arial"/>
                <a:cs typeface="Arial"/>
                <a:sym typeface="Arial"/>
              </a:rPr>
              <a:t>We can think of the stacked activation maps as a sort-of “image.”</a:t>
            </a:r>
            <a:endParaRPr/>
          </a:p>
          <a:p>
            <a:pPr marL="0" lvl="0" indent="0" algn="l" rtl="0">
              <a:spcBef>
                <a:spcPts val="0"/>
              </a:spcBef>
              <a:spcAft>
                <a:spcPts val="0"/>
              </a:spcAft>
              <a:buNone/>
            </a:pPr>
            <a:endParaRPr b="0" i="0">
              <a:solidFill>
                <a:srgbClr val="333333"/>
              </a:solidFill>
              <a:latin typeface="Arial"/>
              <a:ea typeface="Arial"/>
              <a:cs typeface="Arial"/>
              <a:sym typeface="Arial"/>
            </a:endParaRPr>
          </a:p>
          <a:p>
            <a:pPr marL="0" lvl="0" indent="0" algn="l" rtl="0">
              <a:spcBef>
                <a:spcPts val="0"/>
              </a:spcBef>
              <a:spcAft>
                <a:spcPts val="0"/>
              </a:spcAft>
              <a:buNone/>
            </a:pPr>
            <a:r>
              <a:rPr lang="en-US" b="0" i="0">
                <a:solidFill>
                  <a:srgbClr val="333333"/>
                </a:solidFill>
                <a:latin typeface="Arial"/>
                <a:ea typeface="Arial"/>
                <a:cs typeface="Arial"/>
                <a:sym typeface="Arial"/>
              </a:rPr>
              <a:t> In typical neural networks, we frequently have multiple convolutional (and pooling layers) arranged in a sequence.</a:t>
            </a:r>
            <a:endParaRPr/>
          </a:p>
          <a:p>
            <a:pPr marL="0" lvl="0" indent="0" algn="l" rtl="0">
              <a:spcBef>
                <a:spcPts val="0"/>
              </a:spcBef>
              <a:spcAft>
                <a:spcPts val="0"/>
              </a:spcAft>
              <a:buNone/>
            </a:pPr>
            <a:endParaRPr b="0" i="0">
              <a:solidFill>
                <a:srgbClr val="333333"/>
              </a:solidFill>
              <a:latin typeface="Arial"/>
              <a:ea typeface="Arial"/>
              <a:cs typeface="Arial"/>
              <a:sym typeface="Arial"/>
            </a:endParaRPr>
          </a:p>
          <a:p>
            <a:pPr marL="0" lvl="0" indent="0" algn="l" rtl="0">
              <a:spcBef>
                <a:spcPts val="0"/>
              </a:spcBef>
              <a:spcAft>
                <a:spcPts val="0"/>
              </a:spcAft>
              <a:buNone/>
            </a:pPr>
            <a:endParaRPr b="0" i="0">
              <a:solidFill>
                <a:srgbClr val="333333"/>
              </a:solidFill>
              <a:latin typeface="Arial"/>
              <a:ea typeface="Arial"/>
              <a:cs typeface="Arial"/>
              <a:sym typeface="Arial"/>
            </a:endParaRPr>
          </a:p>
          <a:p>
            <a:pPr marL="0" lvl="0" indent="0" algn="l" rtl="0">
              <a:spcBef>
                <a:spcPts val="0"/>
              </a:spcBef>
              <a:spcAft>
                <a:spcPts val="0"/>
              </a:spcAft>
              <a:buNone/>
            </a:pPr>
            <a:endParaRPr/>
          </a:p>
        </p:txBody>
      </p:sp>
      <p:sp>
        <p:nvSpPr>
          <p:cNvPr id="2396" name="Google Shape;2396;p3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0"/>
        <p:cNvGrpSpPr/>
        <p:nvPr/>
      </p:nvGrpSpPr>
      <p:grpSpPr>
        <a:xfrm>
          <a:off x="0" y="0"/>
          <a:ext cx="0" cy="0"/>
          <a:chOff x="0" y="0"/>
          <a:chExt cx="0" cy="0"/>
        </a:xfrm>
      </p:grpSpPr>
      <p:sp>
        <p:nvSpPr>
          <p:cNvPr id="2401" name="Google Shape;2401;p3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2" name="Google Shape;2402;p3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333333"/>
                </a:solidFill>
                <a:latin typeface="Arial"/>
                <a:ea typeface="Arial"/>
                <a:cs typeface="Arial"/>
                <a:sym typeface="Arial"/>
              </a:rPr>
              <a:t>The size in the x and y dimensions is 26 because there are 26x26 possible positions to slide a 7x7 filter into inside of a 32x32 image, and its depth is 20 because there are 20 filters.</a:t>
            </a:r>
            <a:endParaRPr/>
          </a:p>
          <a:p>
            <a:pPr marL="0" lvl="0" indent="0" algn="l" rtl="0">
              <a:spcBef>
                <a:spcPts val="0"/>
              </a:spcBef>
              <a:spcAft>
                <a:spcPts val="0"/>
              </a:spcAft>
              <a:buNone/>
            </a:pPr>
            <a:endParaRPr b="0" i="0">
              <a:solidFill>
                <a:srgbClr val="333333"/>
              </a:solidFill>
              <a:latin typeface="Arial"/>
              <a:ea typeface="Arial"/>
              <a:cs typeface="Arial"/>
              <a:sym typeface="Arial"/>
            </a:endParaRPr>
          </a:p>
          <a:p>
            <a:pPr marL="0" lvl="0" indent="0" algn="l" rtl="0">
              <a:spcBef>
                <a:spcPts val="0"/>
              </a:spcBef>
              <a:spcAft>
                <a:spcPts val="0"/>
              </a:spcAft>
              <a:buNone/>
            </a:pPr>
            <a:r>
              <a:rPr lang="en-US" b="0" i="0">
                <a:solidFill>
                  <a:srgbClr val="333333"/>
                </a:solidFill>
                <a:latin typeface="Arial"/>
                <a:ea typeface="Arial"/>
                <a:cs typeface="Arial"/>
                <a:sym typeface="Arial"/>
              </a:rPr>
              <a:t>Whereas the values in the 32x32x3 volume simply represent the intensity of red, green, and blue in every pixel of the image, the values in the 26x26x20 volume represent the intensity of 20 different feature detectors over a small region centered at each pixel. </a:t>
            </a:r>
            <a:endParaRPr/>
          </a:p>
        </p:txBody>
      </p:sp>
      <p:sp>
        <p:nvSpPr>
          <p:cNvPr id="2403" name="Google Shape;2403;p3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p:cNvGrpSpPr/>
        <p:nvPr/>
      </p:nvGrpSpPr>
      <p:grpSpPr>
        <a:xfrm>
          <a:off x="0" y="0"/>
          <a:ext cx="0" cy="0"/>
          <a:chOff x="0" y="0"/>
          <a:chExt cx="0" cy="0"/>
        </a:xfrm>
      </p:grpSpPr>
      <p:sp>
        <p:nvSpPr>
          <p:cNvPr id="2409" name="Google Shape;2409;p3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0" name="Google Shape;2410;p3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1" name="Google Shape;2411;p3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5"/>
        <p:cNvGrpSpPr/>
        <p:nvPr/>
      </p:nvGrpSpPr>
      <p:grpSpPr>
        <a:xfrm>
          <a:off x="0" y="0"/>
          <a:ext cx="0" cy="0"/>
          <a:chOff x="0" y="0"/>
          <a:chExt cx="0" cy="0"/>
        </a:xfrm>
      </p:grpSpPr>
      <p:sp>
        <p:nvSpPr>
          <p:cNvPr id="2416" name="Google Shape;2416;p3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7" name="Google Shape;2417;p3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8" name="Google Shape;2418;p3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2"/>
        <p:cNvGrpSpPr/>
        <p:nvPr/>
      </p:nvGrpSpPr>
      <p:grpSpPr>
        <a:xfrm>
          <a:off x="0" y="0"/>
          <a:ext cx="0" cy="0"/>
          <a:chOff x="0" y="0"/>
          <a:chExt cx="0" cy="0"/>
        </a:xfrm>
      </p:grpSpPr>
      <p:sp>
        <p:nvSpPr>
          <p:cNvPr id="2423" name="Google Shape;2423;p3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4" name="Google Shape;2424;p3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5" name="Google Shape;2425;p3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9"/>
        <p:cNvGrpSpPr/>
        <p:nvPr/>
      </p:nvGrpSpPr>
      <p:grpSpPr>
        <a:xfrm>
          <a:off x="0" y="0"/>
          <a:ext cx="0" cy="0"/>
          <a:chOff x="0" y="0"/>
          <a:chExt cx="0" cy="0"/>
        </a:xfrm>
      </p:grpSpPr>
      <p:sp>
        <p:nvSpPr>
          <p:cNvPr id="2430" name="Google Shape;2430;p3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1" name="Google Shape;2431;p3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5"/>
        <p:cNvGrpSpPr/>
        <p:nvPr/>
      </p:nvGrpSpPr>
      <p:grpSpPr>
        <a:xfrm>
          <a:off x="0" y="0"/>
          <a:ext cx="0" cy="0"/>
          <a:chOff x="0" y="0"/>
          <a:chExt cx="0" cy="0"/>
        </a:xfrm>
      </p:grpSpPr>
      <p:sp>
        <p:nvSpPr>
          <p:cNvPr id="2436" name="Google Shape;2436;p3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7" name="Google Shape;2437;p3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1"/>
        <p:cNvGrpSpPr/>
        <p:nvPr/>
      </p:nvGrpSpPr>
      <p:grpSpPr>
        <a:xfrm>
          <a:off x="0" y="0"/>
          <a:ext cx="0" cy="0"/>
          <a:chOff x="0" y="0"/>
          <a:chExt cx="0" cy="0"/>
        </a:xfrm>
      </p:grpSpPr>
      <p:sp>
        <p:nvSpPr>
          <p:cNvPr id="2442" name="Google Shape;2442;p3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3" name="Google Shape;2443;p3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6F329-96F1-AA30-AD84-BDF57ED71B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6DD4A08-F8EC-4FAB-2167-175AFA9A08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2DE39F-A839-C855-35AC-9BD278C2D1D9}"/>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5" name="Footer Placeholder 4">
            <a:extLst>
              <a:ext uri="{FF2B5EF4-FFF2-40B4-BE49-F238E27FC236}">
                <a16:creationId xmlns:a16="http://schemas.microsoft.com/office/drawing/2014/main" id="{1AC05B64-28C5-18B8-3960-1479754248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EA0B6B-088C-9CF5-29CB-CEC935F7D32E}"/>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908166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C7A50-7AFB-993E-E1FA-55C3E3DE21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8309CA-F23E-048C-772D-4B682574E1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C39AF5-9E7B-14E9-8022-337D48CC01FE}"/>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5" name="Footer Placeholder 4">
            <a:extLst>
              <a:ext uri="{FF2B5EF4-FFF2-40B4-BE49-F238E27FC236}">
                <a16:creationId xmlns:a16="http://schemas.microsoft.com/office/drawing/2014/main" id="{A937AB93-E6A9-722A-8178-7AE9886DA5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E61EC7-D712-D63B-0E33-EC208D05E981}"/>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2238432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E16FA-BE4D-786C-B0C3-B4B6357F29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B39562-A1A8-2284-5CDF-D0A2E31606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EDD4FA-6662-D504-3277-1096AE8767C3}"/>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5" name="Footer Placeholder 4">
            <a:extLst>
              <a:ext uri="{FF2B5EF4-FFF2-40B4-BE49-F238E27FC236}">
                <a16:creationId xmlns:a16="http://schemas.microsoft.com/office/drawing/2014/main" id="{FCF7C59E-A229-A260-C52D-ECE1C17705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DB1925-E9A3-15E2-E886-8F9CF8D1E5BE}"/>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1178277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CBCA2-FBF0-61FF-CC38-6538D35ACF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D3D1FD-45BF-1392-CE21-2B04F926E3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E97C98-0AEE-5974-6E3F-72A42E51DC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E2636B-DF83-43E9-FD6B-8CADEBC1633B}"/>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6" name="Footer Placeholder 5">
            <a:extLst>
              <a:ext uri="{FF2B5EF4-FFF2-40B4-BE49-F238E27FC236}">
                <a16:creationId xmlns:a16="http://schemas.microsoft.com/office/drawing/2014/main" id="{412835F2-C3D5-93A6-0711-4ECB443CB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407DD7-FE01-64E4-CB84-C97FFDD8B021}"/>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2315890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1301C-A18C-CCFB-89A6-362F404720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74040E4-05E3-8532-404D-1B8D81F632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0DD5C7-90CD-B29B-4383-F6E2581F00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271C8E-0B4C-8D18-10C6-F93592E35B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21A607-58A5-CB03-8274-40E98A2823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E2AFB-615E-A134-6308-637BDA3B8D88}"/>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8" name="Footer Placeholder 7">
            <a:extLst>
              <a:ext uri="{FF2B5EF4-FFF2-40B4-BE49-F238E27FC236}">
                <a16:creationId xmlns:a16="http://schemas.microsoft.com/office/drawing/2014/main" id="{643FB7FC-A55F-4820-76F3-21436B07562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1EFD338-08F3-ECBA-D255-213A1987EE8F}"/>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97510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B6BF1-19A9-1218-AB13-EC5AAAA707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7CB5409-0E9B-A173-2774-A61284EFE61F}"/>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4" name="Footer Placeholder 3">
            <a:extLst>
              <a:ext uri="{FF2B5EF4-FFF2-40B4-BE49-F238E27FC236}">
                <a16:creationId xmlns:a16="http://schemas.microsoft.com/office/drawing/2014/main" id="{248687F6-2C22-C343-F057-F5F0AA163EA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671196-3427-558F-F653-E7A93C9DA8BF}"/>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2658015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E5CA98-F3B0-85B6-545C-097E9FA3BBEB}"/>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3" name="Footer Placeholder 2">
            <a:extLst>
              <a:ext uri="{FF2B5EF4-FFF2-40B4-BE49-F238E27FC236}">
                <a16:creationId xmlns:a16="http://schemas.microsoft.com/office/drawing/2014/main" id="{79C6763D-6D68-5423-5F59-1E4BA487DB0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4A8472-97EC-A31C-143B-5020E6D1BF95}"/>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1926146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6DBE-4B3E-F988-6F45-D387B59228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CE20C7F-169E-6899-C51E-0DC142E74D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E746BB-9B23-F6B3-29ED-65A5776A5A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41ADB1-7EA9-6C8E-7B7D-AF78FED1292E}"/>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6" name="Footer Placeholder 5">
            <a:extLst>
              <a:ext uri="{FF2B5EF4-FFF2-40B4-BE49-F238E27FC236}">
                <a16:creationId xmlns:a16="http://schemas.microsoft.com/office/drawing/2014/main" id="{25A13E39-6728-C9BF-D684-596871459F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ED0090-48F6-3A7A-4779-422E7E722B76}"/>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2737075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718F3-F840-070F-6A4E-375B960962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9716E0-6F25-A938-16A5-4F363C32A5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EE5282C-141B-959C-4434-E635F0EE8C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99A54F-3213-4830-4876-C30AF4A232EF}"/>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6" name="Footer Placeholder 5">
            <a:extLst>
              <a:ext uri="{FF2B5EF4-FFF2-40B4-BE49-F238E27FC236}">
                <a16:creationId xmlns:a16="http://schemas.microsoft.com/office/drawing/2014/main" id="{FA55FE93-023D-328D-2289-05922E7E77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C0B2ED-F061-AFBE-3E48-4CB2FA7EAB18}"/>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552032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24136-9DA3-DBDE-9FD0-B2970BA682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675B5F-A7F5-AC1D-0199-486913C226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A69E00-693B-52A8-A619-E03A86A1D53F}"/>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5" name="Footer Placeholder 4">
            <a:extLst>
              <a:ext uri="{FF2B5EF4-FFF2-40B4-BE49-F238E27FC236}">
                <a16:creationId xmlns:a16="http://schemas.microsoft.com/office/drawing/2014/main" id="{5D177902-EA7F-1880-E8BA-B32C51C120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52D31-827B-7929-DA50-A8A79CFA7D03}"/>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387029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BF7130-B79C-CB1C-A5B2-04CB0E9098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43FFE8-6B2F-FB69-A715-5988C64194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0126FA-B39B-E51D-A8E1-5A73E531EA89}"/>
              </a:ext>
            </a:extLst>
          </p:cNvPr>
          <p:cNvSpPr>
            <a:spLocks noGrp="1"/>
          </p:cNvSpPr>
          <p:nvPr>
            <p:ph type="dt" sz="half" idx="10"/>
          </p:nvPr>
        </p:nvSpPr>
        <p:spPr/>
        <p:txBody>
          <a:bodyPr/>
          <a:lstStyle/>
          <a:p>
            <a:fld id="{FA9FABF9-924D-4856-A520-0B8E682A96B8}" type="datetimeFigureOut">
              <a:rPr lang="en-IN" smtClean="0"/>
              <a:t>31-01-2026</a:t>
            </a:fld>
            <a:endParaRPr lang="en-IN"/>
          </a:p>
        </p:txBody>
      </p:sp>
      <p:sp>
        <p:nvSpPr>
          <p:cNvPr id="5" name="Footer Placeholder 4">
            <a:extLst>
              <a:ext uri="{FF2B5EF4-FFF2-40B4-BE49-F238E27FC236}">
                <a16:creationId xmlns:a16="http://schemas.microsoft.com/office/drawing/2014/main" id="{CC7AB80B-4416-105A-4E45-7D447BC5F6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42D62F-9A33-D753-6605-0AB4600D1174}"/>
              </a:ext>
            </a:extLst>
          </p:cNvPr>
          <p:cNvSpPr>
            <a:spLocks noGrp="1"/>
          </p:cNvSpPr>
          <p:nvPr>
            <p:ph type="sldNum" sz="quarter" idx="12"/>
          </p:nvPr>
        </p:nvSpPr>
        <p:spPr/>
        <p:txBody>
          <a:bodyPr/>
          <a:lstStyle/>
          <a:p>
            <a:fld id="{AA62AE6B-3871-4460-8DB3-EEE94873237B}" type="slidenum">
              <a:rPr lang="en-IN" smtClean="0"/>
              <a:t>‹#›</a:t>
            </a:fld>
            <a:endParaRPr lang="en-IN"/>
          </a:p>
        </p:txBody>
      </p:sp>
    </p:spTree>
    <p:extLst>
      <p:ext uri="{BB962C8B-B14F-4D97-AF65-F5344CB8AC3E}">
        <p14:creationId xmlns:p14="http://schemas.microsoft.com/office/powerpoint/2010/main" val="4718768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35"/>
        <p:cNvGrpSpPr/>
        <p:nvPr/>
      </p:nvGrpSpPr>
      <p:grpSpPr>
        <a:xfrm>
          <a:off x="0" y="0"/>
          <a:ext cx="0" cy="0"/>
          <a:chOff x="0" y="0"/>
          <a:chExt cx="0" cy="0"/>
        </a:xfrm>
      </p:grpSpPr>
      <p:sp>
        <p:nvSpPr>
          <p:cNvPr id="36" name="Google Shape;36;p384"/>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lvl1pPr lvl="0" algn="l">
              <a:lnSpc>
                <a:spcPct val="80000"/>
              </a:lnSpc>
              <a:spcBef>
                <a:spcPts val="0"/>
              </a:spcBef>
              <a:spcAft>
                <a:spcPts val="0"/>
              </a:spcAft>
              <a:buClr>
                <a:srgbClr val="4641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384"/>
          <p:cNvSpPr txBox="1">
            <a:spLocks noGrp="1"/>
          </p:cNvSpPr>
          <p:nvPr>
            <p:ph type="body" idx="1"/>
          </p:nvPr>
        </p:nvSpPr>
        <p:spPr>
          <a:xfrm>
            <a:off x="913774" y="2367092"/>
            <a:ext cx="10363826" cy="3424107"/>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8" name="Google Shape;38;p384"/>
          <p:cNvSpPr txBox="1">
            <a:spLocks noGrp="1"/>
          </p:cNvSpPr>
          <p:nvPr>
            <p:ph type="dt" idx="10"/>
          </p:nvPr>
        </p:nvSpPr>
        <p:spPr>
          <a:xfrm>
            <a:off x="1024128" y="6470704"/>
            <a:ext cx="2154142" cy="27432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84"/>
          <p:cNvSpPr txBox="1">
            <a:spLocks noGrp="1"/>
          </p:cNvSpPr>
          <p:nvPr>
            <p:ph type="ftr" idx="11"/>
          </p:nvPr>
        </p:nvSpPr>
        <p:spPr>
          <a:xfrm>
            <a:off x="4842932" y="6470704"/>
            <a:ext cx="5901458" cy="27432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84"/>
          <p:cNvSpPr txBox="1">
            <a:spLocks noGrp="1"/>
          </p:cNvSpPr>
          <p:nvPr>
            <p:ph type="sldNum" idx="12"/>
          </p:nvPr>
        </p:nvSpPr>
        <p:spPr>
          <a:xfrm>
            <a:off x="10837334" y="6470704"/>
            <a:ext cx="973666" cy="27432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94203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7B22BC-FC6B-120B-774D-59FDA20DB9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892757-1FCE-6EEE-9E6B-BBBB671BCF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A34403-C423-89C9-3080-2106971F04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9FABF9-924D-4856-A520-0B8E682A96B8}" type="datetimeFigureOut">
              <a:rPr lang="en-IN" smtClean="0"/>
              <a:t>31-01-2026</a:t>
            </a:fld>
            <a:endParaRPr lang="en-IN"/>
          </a:p>
        </p:txBody>
      </p:sp>
      <p:sp>
        <p:nvSpPr>
          <p:cNvPr id="5" name="Footer Placeholder 4">
            <a:extLst>
              <a:ext uri="{FF2B5EF4-FFF2-40B4-BE49-F238E27FC236}">
                <a16:creationId xmlns:a16="http://schemas.microsoft.com/office/drawing/2014/main" id="{2C48DEFC-958B-0CAD-AEE2-DBA888A00F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260C039-4FFE-2E6A-4F07-691E7D56B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62AE6B-3871-4460-8DB3-EEE94873237B}" type="slidenum">
              <a:rPr lang="en-IN" smtClean="0"/>
              <a:t>‹#›</a:t>
            </a:fld>
            <a:endParaRPr lang="en-IN"/>
          </a:p>
        </p:txBody>
      </p:sp>
    </p:spTree>
    <p:extLst>
      <p:ext uri="{BB962C8B-B14F-4D97-AF65-F5344CB8AC3E}">
        <p14:creationId xmlns:p14="http://schemas.microsoft.com/office/powerpoint/2010/main" val="883191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Overfitting"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22313-B0A8-732C-1080-8729E044F52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F44B9F8-91B9-0B23-0EFB-4EA90B672C7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001297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19"/>
        <p:cNvGrpSpPr/>
        <p:nvPr/>
      </p:nvGrpSpPr>
      <p:grpSpPr>
        <a:xfrm>
          <a:off x="0" y="0"/>
          <a:ext cx="0" cy="0"/>
          <a:chOff x="0" y="0"/>
          <a:chExt cx="0" cy="0"/>
        </a:xfrm>
      </p:grpSpPr>
      <p:sp>
        <p:nvSpPr>
          <p:cNvPr id="2320" name="Google Shape;2320;p305"/>
          <p:cNvSpPr txBox="1">
            <a:spLocks noGrp="1"/>
          </p:cNvSpPr>
          <p:nvPr>
            <p:ph type="ctrTitle"/>
          </p:nvPr>
        </p:nvSpPr>
        <p:spPr>
          <a:xfrm>
            <a:off x="2184400" y="1965960"/>
            <a:ext cx="7823200" cy="146304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0000"/>
              </a:lnSpc>
              <a:spcBef>
                <a:spcPts val="0"/>
              </a:spcBef>
              <a:spcAft>
                <a:spcPts val="0"/>
              </a:spcAft>
              <a:buClr>
                <a:srgbClr val="464132"/>
              </a:buClr>
              <a:buSzPts val="5000"/>
              <a:buFont typeface="Twentieth Century"/>
              <a:buNone/>
            </a:pPr>
            <a:r>
              <a:rPr lang="en-US"/>
              <a:t>CONVOLUTIONAL NEURAL NETWORK</a:t>
            </a:r>
            <a:endParaRPr/>
          </a:p>
        </p:txBody>
      </p:sp>
      <p:sp>
        <p:nvSpPr>
          <p:cNvPr id="2321" name="Google Shape;2321;p305"/>
          <p:cNvSpPr txBox="1">
            <a:spLocks noGrp="1"/>
          </p:cNvSpPr>
          <p:nvPr>
            <p:ph type="subTitle" idx="1"/>
          </p:nvPr>
        </p:nvSpPr>
        <p:spPr>
          <a:xfrm>
            <a:off x="8610600" y="4960137"/>
            <a:ext cx="3200400" cy="146304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SzPts val="1800"/>
              <a:buNone/>
            </a:pPr>
            <a:endParaRPr/>
          </a:p>
          <a:p>
            <a:pPr marL="0" lvl="0" indent="0" algn="l" rtl="0">
              <a:lnSpc>
                <a:spcPct val="100000"/>
              </a:lnSpc>
              <a:spcBef>
                <a:spcPts val="200"/>
              </a:spcBef>
              <a:spcAft>
                <a:spcPts val="0"/>
              </a:spcAft>
              <a:buSzPts val="1800"/>
              <a:buNone/>
            </a:pPr>
            <a:endParaRPr/>
          </a:p>
          <a:p>
            <a:pPr marL="0" lvl="0" indent="0" algn="l" rtl="0">
              <a:lnSpc>
                <a:spcPct val="100000"/>
              </a:lnSpc>
              <a:spcBef>
                <a:spcPts val="200"/>
              </a:spcBef>
              <a:spcAft>
                <a:spcPts val="0"/>
              </a:spcAft>
              <a:buSzPts val="1800"/>
              <a:buNone/>
            </a:pPr>
            <a:endParaRPr/>
          </a:p>
          <a:p>
            <a:pPr marL="0" lvl="0" indent="0" algn="l" rtl="0">
              <a:lnSpc>
                <a:spcPct val="100000"/>
              </a:lnSpc>
              <a:spcBef>
                <a:spcPts val="200"/>
              </a:spcBef>
              <a:spcAft>
                <a:spcPts val="0"/>
              </a:spcAft>
              <a:buSzPts val="18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26"/>
        <p:cNvGrpSpPr/>
        <p:nvPr/>
      </p:nvGrpSpPr>
      <p:grpSpPr>
        <a:xfrm>
          <a:off x="0" y="0"/>
          <a:ext cx="0" cy="0"/>
          <a:chOff x="0" y="0"/>
          <a:chExt cx="0" cy="0"/>
        </a:xfrm>
      </p:grpSpPr>
      <p:sp>
        <p:nvSpPr>
          <p:cNvPr id="2327" name="Google Shape;2327;p306"/>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CONVOLUTIONAL NEURAL NETWORK</a:t>
            </a:r>
            <a:endParaRPr/>
          </a:p>
        </p:txBody>
      </p:sp>
      <p:sp>
        <p:nvSpPr>
          <p:cNvPr id="2328" name="Google Shape;2328;p306"/>
          <p:cNvSpPr txBox="1">
            <a:spLocks noGrp="1"/>
          </p:cNvSpPr>
          <p:nvPr>
            <p:ph type="body" idx="1"/>
          </p:nvPr>
        </p:nvSpPr>
        <p:spPr>
          <a:xfrm>
            <a:off x="702250" y="2362096"/>
            <a:ext cx="10791249" cy="4051404"/>
          </a:xfrm>
          <a:prstGeom prst="rect">
            <a:avLst/>
          </a:prstGeom>
          <a:noFill/>
          <a:ln>
            <a:noFill/>
          </a:ln>
        </p:spPr>
        <p:txBody>
          <a:bodyPr spcFirstLastPara="1" wrap="square" lIns="45700" tIns="45700" rIns="45700" bIns="45700" anchor="t" anchorCtr="0">
            <a:normAutofit lnSpcReduction="10000"/>
          </a:bodyPr>
          <a:lstStyle/>
          <a:p>
            <a:pPr marL="91440" lvl="0" indent="-177800" algn="l" rtl="0">
              <a:lnSpc>
                <a:spcPct val="90000"/>
              </a:lnSpc>
              <a:spcBef>
                <a:spcPts val="0"/>
              </a:spcBef>
              <a:spcAft>
                <a:spcPts val="0"/>
              </a:spcAft>
              <a:buSzPts val="2800"/>
              <a:buFont typeface="Noto Sans Symbols"/>
              <a:buChar char="❑"/>
            </a:pPr>
            <a:r>
              <a:rPr lang="en-US" sz="2800" dirty="0"/>
              <a:t>CNNs are very effective in areas such as image recognition and classification</a:t>
            </a:r>
            <a:endParaRPr dirty="0"/>
          </a:p>
          <a:p>
            <a:pPr marL="91440" lvl="0" indent="-177800" algn="l" rtl="0">
              <a:lnSpc>
                <a:spcPct val="90000"/>
              </a:lnSpc>
              <a:spcBef>
                <a:spcPts val="1400"/>
              </a:spcBef>
              <a:spcAft>
                <a:spcPts val="0"/>
              </a:spcAft>
              <a:buSzPts val="2800"/>
              <a:buFont typeface="Noto Sans Symbols"/>
              <a:buChar char="❑"/>
            </a:pPr>
            <a:r>
              <a:rPr lang="en-US" sz="2800" dirty="0"/>
              <a:t>Application of CNNs</a:t>
            </a:r>
            <a:endParaRPr dirty="0"/>
          </a:p>
          <a:p>
            <a:pPr marL="91440" lvl="0" indent="-177800" algn="l" rtl="0">
              <a:lnSpc>
                <a:spcPct val="90000"/>
              </a:lnSpc>
              <a:spcBef>
                <a:spcPts val="1400"/>
              </a:spcBef>
              <a:spcAft>
                <a:spcPts val="0"/>
              </a:spcAft>
              <a:buSzPts val="2800"/>
              <a:buFont typeface="Noto Sans Symbols"/>
              <a:buChar char="▪"/>
            </a:pPr>
            <a:r>
              <a:rPr lang="en-US" sz="2800" dirty="0"/>
              <a:t> Images you want to find features</a:t>
            </a:r>
            <a:endParaRPr dirty="0"/>
          </a:p>
          <a:p>
            <a:pPr marL="91440" lvl="0" indent="-177800" algn="l" rtl="0">
              <a:lnSpc>
                <a:spcPct val="90000"/>
              </a:lnSpc>
              <a:spcBef>
                <a:spcPts val="1400"/>
              </a:spcBef>
              <a:spcAft>
                <a:spcPts val="0"/>
              </a:spcAft>
              <a:buSzPts val="2800"/>
              <a:buFont typeface="Noto Sans Symbols"/>
              <a:buChar char="▪"/>
            </a:pPr>
            <a:r>
              <a:rPr lang="en-US" sz="2800" dirty="0"/>
              <a:t> Machine translation</a:t>
            </a:r>
            <a:endParaRPr dirty="0"/>
          </a:p>
          <a:p>
            <a:pPr marL="91440" lvl="0" indent="-177800" algn="l" rtl="0">
              <a:lnSpc>
                <a:spcPct val="90000"/>
              </a:lnSpc>
              <a:spcBef>
                <a:spcPts val="1400"/>
              </a:spcBef>
              <a:spcAft>
                <a:spcPts val="0"/>
              </a:spcAft>
              <a:buSzPts val="2800"/>
              <a:buFont typeface="Noto Sans Symbols"/>
              <a:buChar char="▪"/>
            </a:pPr>
            <a:r>
              <a:rPr lang="en-US" sz="2800" dirty="0"/>
              <a:t> Sentiment analysis</a:t>
            </a:r>
            <a:endParaRPr dirty="0"/>
          </a:p>
          <a:p>
            <a:pPr marL="91440" lvl="0" indent="-177800" algn="l" rtl="0">
              <a:lnSpc>
                <a:spcPct val="90000"/>
              </a:lnSpc>
              <a:spcBef>
                <a:spcPts val="1400"/>
              </a:spcBef>
              <a:spcAft>
                <a:spcPts val="0"/>
              </a:spcAft>
              <a:buSzPts val="2800"/>
              <a:buFont typeface="Noto Sans Symbols"/>
              <a:buChar char="▪"/>
            </a:pPr>
            <a:r>
              <a:rPr lang="en-US" sz="2800" dirty="0"/>
              <a:t> Sentence classification</a:t>
            </a:r>
            <a:endParaRPr sz="2800" dirty="0"/>
          </a:p>
          <a:p>
            <a:pPr marL="91440" lvl="0" indent="-177800" algn="l" rtl="0">
              <a:lnSpc>
                <a:spcPct val="90000"/>
              </a:lnSpc>
              <a:spcBef>
                <a:spcPts val="1400"/>
              </a:spcBef>
              <a:spcAft>
                <a:spcPts val="0"/>
              </a:spcAft>
              <a:buSzPts val="2800"/>
              <a:buFont typeface="Noto Sans Symbols"/>
              <a:buChar char="❑"/>
            </a:pPr>
            <a:r>
              <a:rPr lang="en-US" sz="2800" dirty="0"/>
              <a:t>They are </a:t>
            </a:r>
            <a:r>
              <a:rPr lang="en-US" sz="2800" b="1" dirty="0"/>
              <a:t>feature-location invariant</a:t>
            </a:r>
            <a:endParaRPr dirty="0"/>
          </a:p>
          <a:p>
            <a:pPr marL="91440" lvl="0" indent="0" algn="l" rtl="0">
              <a:lnSpc>
                <a:spcPct val="90000"/>
              </a:lnSpc>
              <a:spcBef>
                <a:spcPts val="1400"/>
              </a:spcBef>
              <a:spcAft>
                <a:spcPts val="0"/>
              </a:spcAft>
              <a:buSzPts val="22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33"/>
        <p:cNvGrpSpPr/>
        <p:nvPr/>
      </p:nvGrpSpPr>
      <p:grpSpPr>
        <a:xfrm>
          <a:off x="0" y="0"/>
          <a:ext cx="0" cy="0"/>
          <a:chOff x="0" y="0"/>
          <a:chExt cx="0" cy="0"/>
        </a:xfrm>
      </p:grpSpPr>
      <p:sp>
        <p:nvSpPr>
          <p:cNvPr id="2334" name="Google Shape;2334;p307"/>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WHY CNN?</a:t>
            </a:r>
            <a:endParaRPr/>
          </a:p>
        </p:txBody>
      </p:sp>
      <p:pic>
        <p:nvPicPr>
          <p:cNvPr id="2335" name="Google Shape;2335;p307"/>
          <p:cNvPicPr preferRelativeResize="0">
            <a:picLocks noGrp="1"/>
          </p:cNvPicPr>
          <p:nvPr>
            <p:ph type="body" idx="1"/>
          </p:nvPr>
        </p:nvPicPr>
        <p:blipFill rotWithShape="1">
          <a:blip r:embed="rId3">
            <a:alphaModFix/>
          </a:blip>
          <a:srcRect/>
          <a:stretch/>
        </p:blipFill>
        <p:spPr>
          <a:xfrm>
            <a:off x="187658" y="2229995"/>
            <a:ext cx="5464997" cy="3274144"/>
          </a:xfrm>
          <a:prstGeom prst="rect">
            <a:avLst/>
          </a:prstGeom>
          <a:noFill/>
          <a:ln>
            <a:noFill/>
          </a:ln>
        </p:spPr>
      </p:pic>
      <p:pic>
        <p:nvPicPr>
          <p:cNvPr id="2336" name="Google Shape;2336;p307"/>
          <p:cNvPicPr preferRelativeResize="0"/>
          <p:nvPr/>
        </p:nvPicPr>
        <p:blipFill rotWithShape="1">
          <a:blip r:embed="rId4">
            <a:alphaModFix/>
          </a:blip>
          <a:srcRect/>
          <a:stretch/>
        </p:blipFill>
        <p:spPr>
          <a:xfrm>
            <a:off x="6096000" y="2229995"/>
            <a:ext cx="5908342" cy="32741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41"/>
        <p:cNvGrpSpPr/>
        <p:nvPr/>
      </p:nvGrpSpPr>
      <p:grpSpPr>
        <a:xfrm>
          <a:off x="0" y="0"/>
          <a:ext cx="0" cy="0"/>
          <a:chOff x="0" y="0"/>
          <a:chExt cx="0" cy="0"/>
        </a:xfrm>
      </p:grpSpPr>
      <p:sp>
        <p:nvSpPr>
          <p:cNvPr id="2342" name="Google Shape;2342;p308"/>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CNNS – HOW DO THEY WORK?</a:t>
            </a:r>
            <a:endParaRPr/>
          </a:p>
        </p:txBody>
      </p:sp>
      <p:sp>
        <p:nvSpPr>
          <p:cNvPr id="2343" name="Google Shape;2343;p308"/>
          <p:cNvSpPr txBox="1">
            <a:spLocks noGrp="1"/>
          </p:cNvSpPr>
          <p:nvPr>
            <p:ph type="body" idx="1"/>
          </p:nvPr>
        </p:nvSpPr>
        <p:spPr>
          <a:xfrm>
            <a:off x="720436" y="1773382"/>
            <a:ext cx="10667034" cy="4932218"/>
          </a:xfrm>
          <a:prstGeom prst="rect">
            <a:avLst/>
          </a:prstGeom>
          <a:noFill/>
          <a:ln>
            <a:noFill/>
          </a:ln>
        </p:spPr>
        <p:txBody>
          <a:bodyPr spcFirstLastPara="1" wrap="square" lIns="45700" tIns="45700" rIns="45700" bIns="45700" anchor="t" anchorCtr="0">
            <a:normAutofit lnSpcReduction="10000"/>
          </a:bodyPr>
          <a:lstStyle/>
          <a:p>
            <a:pPr marL="91440" lvl="0" indent="-177800" algn="l" rtl="0">
              <a:lnSpc>
                <a:spcPct val="90000"/>
              </a:lnSpc>
              <a:spcBef>
                <a:spcPts val="0"/>
              </a:spcBef>
              <a:spcAft>
                <a:spcPts val="0"/>
              </a:spcAft>
              <a:buSzPts val="2800"/>
              <a:buFont typeface="Noto Sans Symbols"/>
              <a:buChar char="❑"/>
            </a:pPr>
            <a:r>
              <a:rPr lang="en-US" sz="2800"/>
              <a:t>Inspired by the biology of the </a:t>
            </a:r>
            <a:r>
              <a:rPr lang="en-US" sz="2800" b="1"/>
              <a:t>visual cortex</a:t>
            </a:r>
            <a:endParaRPr/>
          </a:p>
          <a:p>
            <a:pPr marL="91440" lvl="0" indent="-177800" algn="l" rtl="0">
              <a:lnSpc>
                <a:spcPct val="90000"/>
              </a:lnSpc>
              <a:spcBef>
                <a:spcPts val="1400"/>
              </a:spcBef>
              <a:spcAft>
                <a:spcPts val="0"/>
              </a:spcAft>
              <a:buSzPts val="2800"/>
              <a:buFont typeface="Noto Sans Symbols"/>
              <a:buChar char="❑"/>
            </a:pPr>
            <a:r>
              <a:rPr lang="en-US" sz="2800" b="1"/>
              <a:t>Local receptive fields </a:t>
            </a:r>
            <a:r>
              <a:rPr lang="en-US" sz="2800"/>
              <a:t>are a group of neurons that only respond to a part of what your eyes see (subsampling)</a:t>
            </a:r>
            <a:endParaRPr/>
          </a:p>
          <a:p>
            <a:pPr marL="91440" lvl="0" indent="-177800" algn="l" rtl="0">
              <a:lnSpc>
                <a:spcPct val="90000"/>
              </a:lnSpc>
              <a:spcBef>
                <a:spcPts val="1400"/>
              </a:spcBef>
              <a:spcAft>
                <a:spcPts val="0"/>
              </a:spcAft>
              <a:buSzPts val="2800"/>
              <a:buFont typeface="Noto Sans Symbols"/>
              <a:buChar char="❑"/>
            </a:pPr>
            <a:r>
              <a:rPr lang="en-US" sz="2800"/>
              <a:t>They overlap each other to cover the entire visual field (convolutions)</a:t>
            </a:r>
            <a:endParaRPr/>
          </a:p>
          <a:p>
            <a:pPr marL="91440" lvl="0" indent="-177800" algn="l" rtl="0">
              <a:lnSpc>
                <a:spcPct val="90000"/>
              </a:lnSpc>
              <a:spcBef>
                <a:spcPts val="1400"/>
              </a:spcBef>
              <a:spcAft>
                <a:spcPts val="0"/>
              </a:spcAft>
              <a:buSzPts val="2800"/>
              <a:buFont typeface="Noto Sans Symbols"/>
              <a:buChar char="❑"/>
            </a:pPr>
            <a:r>
              <a:rPr lang="en-US" sz="2800"/>
              <a:t>They feed into a higher layer that identifies increasingly complex images</a:t>
            </a:r>
            <a:endParaRPr/>
          </a:p>
          <a:p>
            <a:pPr marL="91440" lvl="0" indent="-177800" algn="l" rtl="0">
              <a:lnSpc>
                <a:spcPct val="90000"/>
              </a:lnSpc>
              <a:spcBef>
                <a:spcPts val="1400"/>
              </a:spcBef>
              <a:spcAft>
                <a:spcPts val="0"/>
              </a:spcAft>
              <a:buSzPts val="2800"/>
              <a:buFont typeface="Noto Sans Symbols"/>
              <a:buChar char="❑"/>
            </a:pPr>
            <a:r>
              <a:rPr lang="en-US" sz="2800"/>
              <a:t>Some </a:t>
            </a:r>
            <a:r>
              <a:rPr lang="en-US" sz="2800" b="1"/>
              <a:t>receptive fields </a:t>
            </a:r>
            <a:r>
              <a:rPr lang="en-US" sz="2800"/>
              <a:t>identify horizontal lines, lines at different angles etc</a:t>
            </a:r>
            <a:endParaRPr sz="2800"/>
          </a:p>
          <a:p>
            <a:pPr marL="91440" lvl="0" indent="-177800" algn="l" rtl="0">
              <a:lnSpc>
                <a:spcPct val="90000"/>
              </a:lnSpc>
              <a:spcBef>
                <a:spcPts val="1400"/>
              </a:spcBef>
              <a:spcAft>
                <a:spcPts val="0"/>
              </a:spcAft>
              <a:buSzPts val="2800"/>
              <a:buFont typeface="Noto Sans Symbols"/>
              <a:buChar char="❑"/>
            </a:pPr>
            <a:r>
              <a:rPr lang="en-US" sz="2800"/>
              <a:t>There would be a layer that identifies shapes, which might feed into the layer which identifies objects. For color images, extra layers of red, green and blue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48"/>
        <p:cNvGrpSpPr/>
        <p:nvPr/>
      </p:nvGrpSpPr>
      <p:grpSpPr>
        <a:xfrm>
          <a:off x="0" y="0"/>
          <a:ext cx="0" cy="0"/>
          <a:chOff x="0" y="0"/>
          <a:chExt cx="0" cy="0"/>
        </a:xfrm>
      </p:grpSpPr>
      <p:sp>
        <p:nvSpPr>
          <p:cNvPr id="2349" name="Google Shape;2349;p309"/>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BUILDING BLOCKS OF CNN</a:t>
            </a:r>
            <a:endParaRPr/>
          </a:p>
        </p:txBody>
      </p:sp>
      <p:sp>
        <p:nvSpPr>
          <p:cNvPr id="2350" name="Google Shape;2350;p309"/>
          <p:cNvSpPr txBox="1">
            <a:spLocks noGrp="1"/>
          </p:cNvSpPr>
          <p:nvPr>
            <p:ph type="body" idx="1"/>
          </p:nvPr>
        </p:nvSpPr>
        <p:spPr>
          <a:xfrm>
            <a:off x="414338" y="1943099"/>
            <a:ext cx="11020917" cy="4714875"/>
          </a:xfrm>
          <a:prstGeom prst="rect">
            <a:avLst/>
          </a:prstGeom>
          <a:noFill/>
          <a:ln>
            <a:noFill/>
          </a:ln>
        </p:spPr>
        <p:txBody>
          <a:bodyPr spcFirstLastPara="1" wrap="square" lIns="45700" tIns="45700" rIns="45700" bIns="45700" anchor="t" anchorCtr="0">
            <a:normAutofit/>
          </a:bodyPr>
          <a:lstStyle/>
          <a:p>
            <a:pPr marL="91440" lvl="0" indent="-177800" algn="just" rtl="0">
              <a:lnSpc>
                <a:spcPct val="90000"/>
              </a:lnSpc>
              <a:spcBef>
                <a:spcPts val="0"/>
              </a:spcBef>
              <a:spcAft>
                <a:spcPts val="0"/>
              </a:spcAft>
              <a:buSzPts val="2800"/>
              <a:buChar char=" "/>
            </a:pPr>
            <a:r>
              <a:rPr lang="en-US" sz="2800" b="0" i="0">
                <a:solidFill>
                  <a:srgbClr val="111111"/>
                </a:solidFill>
                <a:latin typeface="Twentieth Century"/>
                <a:ea typeface="Twentieth Century"/>
                <a:cs typeface="Twentieth Century"/>
                <a:sym typeface="Twentieth Century"/>
              </a:rPr>
              <a:t>There are four main operations in CNN:</a:t>
            </a:r>
            <a:endParaRPr/>
          </a:p>
          <a:p>
            <a:pPr marL="91440" lvl="0" indent="-177800" algn="just" rtl="0">
              <a:lnSpc>
                <a:spcPct val="90000"/>
              </a:lnSpc>
              <a:spcBef>
                <a:spcPts val="1400"/>
              </a:spcBef>
              <a:spcAft>
                <a:spcPts val="0"/>
              </a:spcAft>
              <a:buSzPts val="2800"/>
              <a:buFont typeface="Noto Sans Symbols"/>
              <a:buChar char="▪"/>
            </a:pPr>
            <a:r>
              <a:rPr lang="en-US" sz="2800" b="0" i="0">
                <a:solidFill>
                  <a:srgbClr val="111111"/>
                </a:solidFill>
                <a:latin typeface="Twentieth Century"/>
                <a:ea typeface="Twentieth Century"/>
                <a:cs typeface="Twentieth Century"/>
                <a:sym typeface="Twentieth Century"/>
              </a:rPr>
              <a:t>Convolution</a:t>
            </a:r>
            <a:endParaRPr/>
          </a:p>
          <a:p>
            <a:pPr marL="265176" lvl="1" indent="-152400" algn="just" rtl="0">
              <a:lnSpc>
                <a:spcPct val="90000"/>
              </a:lnSpc>
              <a:spcBef>
                <a:spcPts val="400"/>
              </a:spcBef>
              <a:spcAft>
                <a:spcPts val="0"/>
              </a:spcAft>
              <a:buSzPts val="2400"/>
              <a:buFont typeface="Noto Sans Symbols"/>
              <a:buChar char="▪"/>
            </a:pPr>
            <a:r>
              <a:rPr lang="en-US" sz="2400">
                <a:solidFill>
                  <a:srgbClr val="111111"/>
                </a:solidFill>
                <a:latin typeface="Twentieth Century"/>
                <a:ea typeface="Twentieth Century"/>
                <a:cs typeface="Twentieth Century"/>
                <a:sym typeface="Twentieth Century"/>
              </a:rPr>
              <a:t>The primary purpose of convolution is to extract features from the input image. It preserves the spatial relationship between pixels</a:t>
            </a:r>
            <a:endParaRPr sz="2400" b="0" i="0">
              <a:solidFill>
                <a:srgbClr val="111111"/>
              </a:solidFill>
              <a:latin typeface="Twentieth Century"/>
              <a:ea typeface="Twentieth Century"/>
              <a:cs typeface="Twentieth Century"/>
              <a:sym typeface="Twentieth Century"/>
            </a:endParaRPr>
          </a:p>
          <a:p>
            <a:pPr marL="91440" lvl="0" indent="-177800" algn="just" rtl="0">
              <a:lnSpc>
                <a:spcPct val="90000"/>
              </a:lnSpc>
              <a:spcBef>
                <a:spcPts val="1600"/>
              </a:spcBef>
              <a:spcAft>
                <a:spcPts val="0"/>
              </a:spcAft>
              <a:buSzPts val="2800"/>
              <a:buFont typeface="Noto Sans Symbols"/>
              <a:buChar char="▪"/>
            </a:pPr>
            <a:r>
              <a:rPr lang="en-US" sz="2800" b="0" i="0">
                <a:solidFill>
                  <a:srgbClr val="111111"/>
                </a:solidFill>
                <a:latin typeface="Twentieth Century"/>
                <a:ea typeface="Twentieth Century"/>
                <a:cs typeface="Twentieth Century"/>
                <a:sym typeface="Twentieth Century"/>
              </a:rPr>
              <a:t>Non-Linearity (ReLU)</a:t>
            </a:r>
            <a:endParaRPr/>
          </a:p>
          <a:p>
            <a:pPr marL="91440" lvl="0" indent="-177800" algn="just" rtl="0">
              <a:lnSpc>
                <a:spcPct val="90000"/>
              </a:lnSpc>
              <a:spcBef>
                <a:spcPts val="1400"/>
              </a:spcBef>
              <a:spcAft>
                <a:spcPts val="0"/>
              </a:spcAft>
              <a:buSzPts val="2800"/>
              <a:buFont typeface="Noto Sans Symbols"/>
              <a:buChar char="▪"/>
            </a:pPr>
            <a:r>
              <a:rPr lang="en-US" sz="2800" b="0" i="0">
                <a:solidFill>
                  <a:srgbClr val="111111"/>
                </a:solidFill>
                <a:latin typeface="Twentieth Century"/>
                <a:ea typeface="Twentieth Century"/>
                <a:cs typeface="Twentieth Century"/>
                <a:sym typeface="Twentieth Century"/>
              </a:rPr>
              <a:t>Pooling or Sub Sampling</a:t>
            </a:r>
            <a:endParaRPr/>
          </a:p>
          <a:p>
            <a:pPr marL="91440" lvl="0" indent="-177800" algn="just" rtl="0">
              <a:lnSpc>
                <a:spcPct val="90000"/>
              </a:lnSpc>
              <a:spcBef>
                <a:spcPts val="1400"/>
              </a:spcBef>
              <a:spcAft>
                <a:spcPts val="0"/>
              </a:spcAft>
              <a:buSzPts val="2800"/>
              <a:buFont typeface="Noto Sans Symbols"/>
              <a:buChar char="▪"/>
            </a:pPr>
            <a:r>
              <a:rPr lang="en-US" sz="2800" b="0" i="0">
                <a:solidFill>
                  <a:srgbClr val="111111"/>
                </a:solidFill>
                <a:latin typeface="Twentieth Century"/>
                <a:ea typeface="Twentieth Century"/>
                <a:cs typeface="Twentieth Century"/>
                <a:sym typeface="Twentieth Century"/>
              </a:rPr>
              <a:t>Classification (Fully Connected Layer)</a:t>
            </a:r>
            <a:endParaRPr/>
          </a:p>
          <a:p>
            <a:pPr marL="91440" lvl="0" indent="0" algn="l" rtl="0">
              <a:lnSpc>
                <a:spcPct val="90000"/>
              </a:lnSpc>
              <a:spcBef>
                <a:spcPts val="1400"/>
              </a:spcBef>
              <a:spcAft>
                <a:spcPts val="0"/>
              </a:spcAft>
              <a:buSzPts val="2200"/>
              <a:buNone/>
            </a:pPr>
            <a:endParaRPr/>
          </a:p>
        </p:txBody>
      </p:sp>
      <p:pic>
        <p:nvPicPr>
          <p:cNvPr id="2351" name="Google Shape;2351;p309"/>
          <p:cNvPicPr preferRelativeResize="0"/>
          <p:nvPr/>
        </p:nvPicPr>
        <p:blipFill rotWithShape="1">
          <a:blip r:embed="rId3">
            <a:alphaModFix/>
          </a:blip>
          <a:srcRect/>
          <a:stretch/>
        </p:blipFill>
        <p:spPr>
          <a:xfrm>
            <a:off x="6608618" y="3860232"/>
            <a:ext cx="4470577" cy="241255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56"/>
        <p:cNvGrpSpPr/>
        <p:nvPr/>
      </p:nvGrpSpPr>
      <p:grpSpPr>
        <a:xfrm>
          <a:off x="0" y="0"/>
          <a:ext cx="0" cy="0"/>
          <a:chOff x="0" y="0"/>
          <a:chExt cx="0" cy="0"/>
        </a:xfrm>
      </p:grpSpPr>
      <p:sp>
        <p:nvSpPr>
          <p:cNvPr id="2357" name="Google Shape;2357;p310"/>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111111"/>
              </a:buClr>
              <a:buSzPts val="5000"/>
              <a:buFont typeface="Twentieth Century"/>
              <a:buNone/>
            </a:pPr>
            <a:r>
              <a:rPr lang="en-US" b="0" i="0">
                <a:solidFill>
                  <a:srgbClr val="111111"/>
                </a:solidFill>
                <a:latin typeface="Twentieth Century"/>
                <a:ea typeface="Twentieth Century"/>
                <a:cs typeface="Twentieth Century"/>
                <a:sym typeface="Twentieth Century"/>
              </a:rPr>
              <a:t>CONVOLUTION</a:t>
            </a:r>
            <a:endParaRPr/>
          </a:p>
        </p:txBody>
      </p:sp>
      <p:pic>
        <p:nvPicPr>
          <p:cNvPr id="2358" name="Google Shape;2358;p310"/>
          <p:cNvPicPr preferRelativeResize="0">
            <a:picLocks noGrp="1"/>
          </p:cNvPicPr>
          <p:nvPr>
            <p:ph type="body" idx="1"/>
          </p:nvPr>
        </p:nvPicPr>
        <p:blipFill rotWithShape="1">
          <a:blip r:embed="rId3">
            <a:alphaModFix/>
          </a:blip>
          <a:srcRect/>
          <a:stretch/>
        </p:blipFill>
        <p:spPr>
          <a:xfrm>
            <a:off x="1178607" y="2409031"/>
            <a:ext cx="2078192" cy="1927442"/>
          </a:xfrm>
          <a:prstGeom prst="rect">
            <a:avLst/>
          </a:prstGeom>
          <a:noFill/>
          <a:ln>
            <a:noFill/>
          </a:ln>
        </p:spPr>
      </p:pic>
      <p:pic>
        <p:nvPicPr>
          <p:cNvPr id="2359" name="Google Shape;2359;p310"/>
          <p:cNvPicPr preferRelativeResize="0"/>
          <p:nvPr/>
        </p:nvPicPr>
        <p:blipFill rotWithShape="1">
          <a:blip r:embed="rId4">
            <a:alphaModFix/>
          </a:blip>
          <a:srcRect/>
          <a:stretch/>
        </p:blipFill>
        <p:spPr>
          <a:xfrm>
            <a:off x="3652747" y="2476499"/>
            <a:ext cx="1251690" cy="1097974"/>
          </a:xfrm>
          <a:prstGeom prst="rect">
            <a:avLst/>
          </a:prstGeom>
          <a:noFill/>
          <a:ln>
            <a:noFill/>
          </a:ln>
        </p:spPr>
      </p:pic>
      <p:pic>
        <p:nvPicPr>
          <p:cNvPr id="2360" name="Google Shape;2360;p310"/>
          <p:cNvPicPr preferRelativeResize="0"/>
          <p:nvPr/>
        </p:nvPicPr>
        <p:blipFill rotWithShape="1">
          <a:blip r:embed="rId5">
            <a:alphaModFix/>
          </a:blip>
          <a:srcRect/>
          <a:stretch/>
        </p:blipFill>
        <p:spPr>
          <a:xfrm>
            <a:off x="6341438" y="2072589"/>
            <a:ext cx="4257675" cy="2600325"/>
          </a:xfrm>
          <a:prstGeom prst="rect">
            <a:avLst/>
          </a:prstGeom>
          <a:noFill/>
          <a:ln>
            <a:noFill/>
          </a:ln>
        </p:spPr>
      </p:pic>
      <p:sp>
        <p:nvSpPr>
          <p:cNvPr id="2361" name="Google Shape;2361;p310"/>
          <p:cNvSpPr txBox="1"/>
          <p:nvPr/>
        </p:nvSpPr>
        <p:spPr>
          <a:xfrm>
            <a:off x="1178607" y="4488248"/>
            <a:ext cx="307570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Image</a:t>
            </a:r>
            <a:endParaRPr sz="2400" b="1">
              <a:solidFill>
                <a:schemeClr val="dk1"/>
              </a:solidFill>
              <a:latin typeface="Twentieth Century"/>
              <a:ea typeface="Twentieth Century"/>
              <a:cs typeface="Twentieth Century"/>
              <a:sym typeface="Twentieth Century"/>
            </a:endParaRPr>
          </a:p>
        </p:txBody>
      </p:sp>
      <p:sp>
        <p:nvSpPr>
          <p:cNvPr id="2362" name="Google Shape;2362;p310"/>
          <p:cNvSpPr txBox="1"/>
          <p:nvPr/>
        </p:nvSpPr>
        <p:spPr>
          <a:xfrm>
            <a:off x="3652747" y="3726248"/>
            <a:ext cx="178433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Filter</a:t>
            </a:r>
            <a:endParaRPr sz="1800" b="1">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67"/>
        <p:cNvGrpSpPr/>
        <p:nvPr/>
      </p:nvGrpSpPr>
      <p:grpSpPr>
        <a:xfrm>
          <a:off x="0" y="0"/>
          <a:ext cx="0" cy="0"/>
          <a:chOff x="0" y="0"/>
          <a:chExt cx="0" cy="0"/>
        </a:xfrm>
      </p:grpSpPr>
      <p:sp>
        <p:nvSpPr>
          <p:cNvPr id="2368" name="Google Shape;2368;p311"/>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endParaRPr/>
          </a:p>
        </p:txBody>
      </p:sp>
      <p:pic>
        <p:nvPicPr>
          <p:cNvPr id="2369" name="Google Shape;2369;p311"/>
          <p:cNvPicPr preferRelativeResize="0">
            <a:picLocks noGrp="1"/>
          </p:cNvPicPr>
          <p:nvPr>
            <p:ph type="body" idx="1"/>
          </p:nvPr>
        </p:nvPicPr>
        <p:blipFill rotWithShape="1">
          <a:blip r:embed="rId3">
            <a:alphaModFix/>
          </a:blip>
          <a:srcRect/>
          <a:stretch/>
        </p:blipFill>
        <p:spPr>
          <a:xfrm>
            <a:off x="1275324" y="342683"/>
            <a:ext cx="10216999" cy="617263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73"/>
        <p:cNvGrpSpPr/>
        <p:nvPr/>
      </p:nvGrpSpPr>
      <p:grpSpPr>
        <a:xfrm>
          <a:off x="0" y="0"/>
          <a:ext cx="0" cy="0"/>
          <a:chOff x="0" y="0"/>
          <a:chExt cx="0" cy="0"/>
        </a:xfrm>
      </p:grpSpPr>
      <p:sp>
        <p:nvSpPr>
          <p:cNvPr id="2374" name="Google Shape;2374;p312"/>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111111"/>
              </a:buClr>
              <a:buSzPts val="5000"/>
              <a:buFont typeface="Open Sans"/>
              <a:buNone/>
            </a:pPr>
            <a:r>
              <a:rPr lang="en-US" b="0" i="0">
                <a:solidFill>
                  <a:srgbClr val="111111"/>
                </a:solidFill>
                <a:latin typeface="Open Sans"/>
                <a:ea typeface="Open Sans"/>
                <a:cs typeface="Open Sans"/>
                <a:sym typeface="Open Sans"/>
              </a:rPr>
              <a:t>RELU</a:t>
            </a:r>
            <a:endParaRPr/>
          </a:p>
        </p:txBody>
      </p:sp>
      <p:sp>
        <p:nvSpPr>
          <p:cNvPr id="2375" name="Google Shape;2375;p312"/>
          <p:cNvSpPr txBox="1">
            <a:spLocks noGrp="1"/>
          </p:cNvSpPr>
          <p:nvPr>
            <p:ph type="body" idx="1"/>
          </p:nvPr>
        </p:nvSpPr>
        <p:spPr>
          <a:xfrm>
            <a:off x="913774" y="2367092"/>
            <a:ext cx="10363826" cy="3424107"/>
          </a:xfrm>
          <a:prstGeom prst="rect">
            <a:avLst/>
          </a:prstGeom>
          <a:noFill/>
          <a:ln>
            <a:noFill/>
          </a:ln>
        </p:spPr>
        <p:txBody>
          <a:bodyPr spcFirstLastPara="1" wrap="square" lIns="45700" tIns="45700" rIns="45700" bIns="45700" anchor="t" anchorCtr="0">
            <a:normAutofit/>
          </a:bodyPr>
          <a:lstStyle/>
          <a:p>
            <a:pPr marL="91440" lvl="0" indent="0" algn="l" rtl="0">
              <a:lnSpc>
                <a:spcPct val="90000"/>
              </a:lnSpc>
              <a:spcBef>
                <a:spcPts val="0"/>
              </a:spcBef>
              <a:spcAft>
                <a:spcPts val="0"/>
              </a:spcAft>
              <a:buSzPts val="2200"/>
              <a:buNone/>
            </a:pPr>
            <a:endParaRPr/>
          </a:p>
        </p:txBody>
      </p:sp>
      <p:pic>
        <p:nvPicPr>
          <p:cNvPr id="2376" name="Google Shape;2376;p312"/>
          <p:cNvPicPr preferRelativeResize="0"/>
          <p:nvPr/>
        </p:nvPicPr>
        <p:blipFill rotWithShape="1">
          <a:blip r:embed="rId3">
            <a:alphaModFix/>
          </a:blip>
          <a:srcRect/>
          <a:stretch/>
        </p:blipFill>
        <p:spPr>
          <a:xfrm>
            <a:off x="79744" y="2084832"/>
            <a:ext cx="12032512" cy="481300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81"/>
        <p:cNvGrpSpPr/>
        <p:nvPr/>
      </p:nvGrpSpPr>
      <p:grpSpPr>
        <a:xfrm>
          <a:off x="0" y="0"/>
          <a:ext cx="0" cy="0"/>
          <a:chOff x="0" y="0"/>
          <a:chExt cx="0" cy="0"/>
        </a:xfrm>
      </p:grpSpPr>
      <p:sp>
        <p:nvSpPr>
          <p:cNvPr id="2382" name="Google Shape;2382;p313"/>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111111"/>
              </a:buClr>
              <a:buSzPts val="5000"/>
              <a:buFont typeface="Open Sans"/>
              <a:buNone/>
            </a:pPr>
            <a:r>
              <a:rPr lang="en-US" b="1" i="0">
                <a:solidFill>
                  <a:srgbClr val="111111"/>
                </a:solidFill>
                <a:latin typeface="Open Sans"/>
                <a:ea typeface="Open Sans"/>
                <a:cs typeface="Open Sans"/>
                <a:sym typeface="Open Sans"/>
              </a:rPr>
              <a:t>THE POOLING STEP</a:t>
            </a:r>
            <a:br>
              <a:rPr lang="en-US" b="1" i="0">
                <a:solidFill>
                  <a:srgbClr val="111111"/>
                </a:solidFill>
                <a:latin typeface="Open Sans"/>
                <a:ea typeface="Open Sans"/>
                <a:cs typeface="Open Sans"/>
                <a:sym typeface="Open Sans"/>
              </a:rPr>
            </a:br>
            <a:endParaRPr/>
          </a:p>
        </p:txBody>
      </p:sp>
      <p:sp>
        <p:nvSpPr>
          <p:cNvPr id="2383" name="Google Shape;2383;p313"/>
          <p:cNvSpPr txBox="1">
            <a:spLocks noGrp="1"/>
          </p:cNvSpPr>
          <p:nvPr>
            <p:ph type="body" idx="1"/>
          </p:nvPr>
        </p:nvSpPr>
        <p:spPr>
          <a:xfrm>
            <a:off x="499728" y="1818167"/>
            <a:ext cx="10977569" cy="2217805"/>
          </a:xfrm>
          <a:prstGeom prst="rect">
            <a:avLst/>
          </a:prstGeom>
          <a:noFill/>
          <a:ln>
            <a:noFill/>
          </a:ln>
        </p:spPr>
        <p:txBody>
          <a:bodyPr spcFirstLastPara="1" wrap="square" lIns="45700" tIns="45700" rIns="45700" bIns="45700" anchor="t" anchorCtr="0">
            <a:normAutofit/>
          </a:bodyPr>
          <a:lstStyle/>
          <a:p>
            <a:pPr marL="91440" lvl="0" indent="-127000" algn="just" rtl="0">
              <a:lnSpc>
                <a:spcPct val="90000"/>
              </a:lnSpc>
              <a:spcBef>
                <a:spcPts val="0"/>
              </a:spcBef>
              <a:spcAft>
                <a:spcPts val="0"/>
              </a:spcAft>
              <a:buSzPts val="2000"/>
              <a:buFont typeface="Noto Sans Symbols"/>
              <a:buChar char="❑"/>
            </a:pPr>
            <a:r>
              <a:rPr lang="en-US" sz="2000" b="0" i="0">
                <a:solidFill>
                  <a:srgbClr val="111111"/>
                </a:solidFill>
                <a:latin typeface="Twentieth Century"/>
                <a:ea typeface="Twentieth Century"/>
                <a:cs typeface="Twentieth Century"/>
                <a:sym typeface="Twentieth Century"/>
              </a:rPr>
              <a:t>Spatial Pooling (also called subsampling or downsampling) reduces the dimensionality of each feature map but retains the most important information.</a:t>
            </a:r>
            <a:endParaRPr/>
          </a:p>
          <a:p>
            <a:pPr marL="91440" lvl="0" indent="-127000" algn="just" rtl="0">
              <a:lnSpc>
                <a:spcPct val="90000"/>
              </a:lnSpc>
              <a:spcBef>
                <a:spcPts val="1400"/>
              </a:spcBef>
              <a:spcAft>
                <a:spcPts val="0"/>
              </a:spcAft>
              <a:buSzPts val="2000"/>
              <a:buFont typeface="Noto Sans Symbols"/>
              <a:buChar char="❑"/>
            </a:pPr>
            <a:r>
              <a:rPr lang="en-US" sz="2000" b="0" i="0">
                <a:solidFill>
                  <a:srgbClr val="111111"/>
                </a:solidFill>
                <a:latin typeface="Twentieth Century"/>
                <a:ea typeface="Twentieth Century"/>
                <a:cs typeface="Twentieth Century"/>
                <a:sym typeface="Twentieth Century"/>
              </a:rPr>
              <a:t> Spatial Pooling can be of different types: Max, Average, Sum etc.</a:t>
            </a:r>
            <a:endParaRPr/>
          </a:p>
          <a:p>
            <a:pPr marL="91440" lvl="0" indent="-127000" algn="just" rtl="0">
              <a:lnSpc>
                <a:spcPct val="90000"/>
              </a:lnSpc>
              <a:spcBef>
                <a:spcPts val="1400"/>
              </a:spcBef>
              <a:spcAft>
                <a:spcPts val="0"/>
              </a:spcAft>
              <a:buSzPts val="2000"/>
              <a:buFont typeface="Noto Sans Symbols"/>
              <a:buChar char="❑"/>
            </a:pPr>
            <a:r>
              <a:rPr lang="en-US" sz="2000" b="0" i="0">
                <a:solidFill>
                  <a:srgbClr val="111111"/>
                </a:solidFill>
                <a:latin typeface="Twentieth Century"/>
                <a:ea typeface="Twentieth Century"/>
                <a:cs typeface="Twentieth Century"/>
                <a:sym typeface="Twentieth Century"/>
              </a:rPr>
              <a:t>In case of Max Pooling, we define a spatial neighborhood (for example, a 2×2 window) and take the largest element from the rectified feature map within that window. </a:t>
            </a:r>
            <a:endParaRPr/>
          </a:p>
          <a:p>
            <a:pPr marL="91440" lvl="0" indent="0" algn="just" rtl="0">
              <a:lnSpc>
                <a:spcPct val="90000"/>
              </a:lnSpc>
              <a:spcBef>
                <a:spcPts val="1400"/>
              </a:spcBef>
              <a:spcAft>
                <a:spcPts val="0"/>
              </a:spcAft>
              <a:buSzPts val="2200"/>
              <a:buFont typeface="Noto Sans Symbols"/>
              <a:buNone/>
            </a:pPr>
            <a:endParaRPr/>
          </a:p>
        </p:txBody>
      </p:sp>
      <p:pic>
        <p:nvPicPr>
          <p:cNvPr id="2384" name="Google Shape;2384;p313"/>
          <p:cNvPicPr preferRelativeResize="0"/>
          <p:nvPr/>
        </p:nvPicPr>
        <p:blipFill rotWithShape="1">
          <a:blip r:embed="rId3">
            <a:alphaModFix/>
          </a:blip>
          <a:srcRect/>
          <a:stretch/>
        </p:blipFill>
        <p:spPr>
          <a:xfrm>
            <a:off x="3796565" y="3589259"/>
            <a:ext cx="4175198" cy="31531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89"/>
        <p:cNvGrpSpPr/>
        <p:nvPr/>
      </p:nvGrpSpPr>
      <p:grpSpPr>
        <a:xfrm>
          <a:off x="0" y="0"/>
          <a:ext cx="0" cy="0"/>
          <a:chOff x="0" y="0"/>
          <a:chExt cx="0" cy="0"/>
        </a:xfrm>
      </p:grpSpPr>
      <p:sp>
        <p:nvSpPr>
          <p:cNvPr id="2390" name="Google Shape;2390;p314"/>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WHY POOLING?</a:t>
            </a:r>
            <a:endParaRPr/>
          </a:p>
        </p:txBody>
      </p:sp>
      <p:sp>
        <p:nvSpPr>
          <p:cNvPr id="2391" name="Google Shape;2391;p314"/>
          <p:cNvSpPr txBox="1">
            <a:spLocks noGrp="1"/>
          </p:cNvSpPr>
          <p:nvPr>
            <p:ph type="body" idx="1"/>
          </p:nvPr>
        </p:nvSpPr>
        <p:spPr>
          <a:xfrm>
            <a:off x="589495" y="1929384"/>
            <a:ext cx="11013009" cy="2688337"/>
          </a:xfrm>
          <a:prstGeom prst="rect">
            <a:avLst/>
          </a:prstGeom>
          <a:noFill/>
          <a:ln>
            <a:noFill/>
          </a:ln>
        </p:spPr>
        <p:txBody>
          <a:bodyPr spcFirstLastPara="1" wrap="square" lIns="45700" tIns="45700" rIns="45700" bIns="45700" anchor="t" anchorCtr="0">
            <a:normAutofit fontScale="85000" lnSpcReduction="20000"/>
          </a:bodyPr>
          <a:lstStyle/>
          <a:p>
            <a:pPr marL="91440" lvl="0" indent="-129222" algn="just" rtl="0">
              <a:lnSpc>
                <a:spcPct val="90000"/>
              </a:lnSpc>
              <a:spcBef>
                <a:spcPts val="0"/>
              </a:spcBef>
              <a:spcAft>
                <a:spcPts val="0"/>
              </a:spcAft>
              <a:buSzPct val="100000"/>
              <a:buFont typeface="Arial"/>
              <a:buChar char="•"/>
            </a:pPr>
            <a:r>
              <a:rPr lang="en-US" b="0" i="0">
                <a:solidFill>
                  <a:srgbClr val="111111"/>
                </a:solidFill>
                <a:latin typeface="Twentieth Century"/>
                <a:ea typeface="Twentieth Century"/>
                <a:cs typeface="Twentieth Century"/>
                <a:sym typeface="Twentieth Century"/>
              </a:rPr>
              <a:t>Makes the input representations (feature dimension) smaller and more manageable</a:t>
            </a:r>
            <a:endParaRPr/>
          </a:p>
          <a:p>
            <a:pPr marL="91440" lvl="0" indent="-129222" algn="just" rtl="0">
              <a:lnSpc>
                <a:spcPct val="90000"/>
              </a:lnSpc>
              <a:spcBef>
                <a:spcPts val="1400"/>
              </a:spcBef>
              <a:spcAft>
                <a:spcPts val="0"/>
              </a:spcAft>
              <a:buSzPct val="100000"/>
              <a:buFont typeface="Arial"/>
              <a:buChar char="•"/>
            </a:pPr>
            <a:r>
              <a:rPr lang="en-US" b="0" i="0">
                <a:solidFill>
                  <a:srgbClr val="111111"/>
                </a:solidFill>
                <a:latin typeface="Twentieth Century"/>
                <a:ea typeface="Twentieth Century"/>
                <a:cs typeface="Twentieth Century"/>
                <a:sym typeface="Twentieth Century"/>
              </a:rPr>
              <a:t>Reduces the number of parameters and computations in the network, therefore, controlling </a:t>
            </a:r>
            <a:r>
              <a:rPr lang="en-US" u="sng">
                <a:solidFill>
                  <a:srgbClr val="111111"/>
                </a:solidFill>
                <a:latin typeface="Twentieth Century"/>
                <a:ea typeface="Twentieth Century"/>
                <a:cs typeface="Twentieth Century"/>
                <a:sym typeface="Twentieth Century"/>
                <a:hlinkClick r:id="rId3">
                  <a:extLst>
                    <a:ext uri="{A12FA001-AC4F-418D-AE19-62706E023703}">
                      <ahyp:hlinkClr xmlns:ahyp="http://schemas.microsoft.com/office/drawing/2018/hyperlinkcolor" val="tx"/>
                    </a:ext>
                  </a:extLst>
                </a:hlinkClick>
              </a:rPr>
              <a:t>overfitting</a:t>
            </a:r>
            <a:endParaRPr u="sng">
              <a:solidFill>
                <a:srgbClr val="111111"/>
              </a:solidFill>
              <a:latin typeface="Twentieth Century"/>
              <a:ea typeface="Twentieth Century"/>
              <a:cs typeface="Twentieth Century"/>
              <a:sym typeface="Twentieth Century"/>
            </a:endParaRPr>
          </a:p>
          <a:p>
            <a:pPr marL="91440" lvl="0" indent="-129222" algn="just" rtl="0">
              <a:lnSpc>
                <a:spcPct val="90000"/>
              </a:lnSpc>
              <a:spcBef>
                <a:spcPts val="1400"/>
              </a:spcBef>
              <a:spcAft>
                <a:spcPts val="0"/>
              </a:spcAft>
              <a:buSzPct val="100000"/>
              <a:buFont typeface="Arial"/>
              <a:buChar char="•"/>
            </a:pPr>
            <a:r>
              <a:rPr lang="en-US" b="0" i="0">
                <a:solidFill>
                  <a:srgbClr val="111111"/>
                </a:solidFill>
                <a:latin typeface="Twentieth Century"/>
                <a:ea typeface="Twentieth Century"/>
                <a:cs typeface="Twentieth Century"/>
                <a:sym typeface="Twentieth Century"/>
              </a:rPr>
              <a:t>Makes the network invariant to small transformations, distortions and translations in the input image (a small distortion in the input will not change the output of Pooling – since we take the maximum/average value in a local neighbourhood).</a:t>
            </a:r>
            <a:endParaRPr/>
          </a:p>
          <a:p>
            <a:pPr marL="91440" lvl="0" indent="-129222" algn="just" rtl="0">
              <a:lnSpc>
                <a:spcPct val="90000"/>
              </a:lnSpc>
              <a:spcBef>
                <a:spcPts val="1400"/>
              </a:spcBef>
              <a:spcAft>
                <a:spcPts val="0"/>
              </a:spcAft>
              <a:buSzPct val="100000"/>
              <a:buFont typeface="Arial"/>
              <a:buChar char="•"/>
            </a:pPr>
            <a:r>
              <a:rPr lang="en-US">
                <a:solidFill>
                  <a:srgbClr val="111111"/>
                </a:solidFill>
                <a:latin typeface="Twentieth Century"/>
                <a:ea typeface="Twentieth Century"/>
                <a:cs typeface="Twentieth Century"/>
                <a:sym typeface="Twentieth Century"/>
              </a:rPr>
              <a:t>H</a:t>
            </a:r>
            <a:r>
              <a:rPr lang="en-US" b="0" i="0">
                <a:solidFill>
                  <a:srgbClr val="111111"/>
                </a:solidFill>
                <a:latin typeface="Twentieth Century"/>
                <a:ea typeface="Twentieth Century"/>
                <a:cs typeface="Twentieth Century"/>
                <a:sym typeface="Twentieth Century"/>
              </a:rPr>
              <a:t>elps us arrive at an almost scale-invariant representation of our image. This is very powerful since we can detect objects in an image no matter where they are located</a:t>
            </a:r>
            <a:endParaRPr/>
          </a:p>
          <a:p>
            <a:pPr marL="91440" lvl="0" indent="0" algn="l" rtl="0">
              <a:lnSpc>
                <a:spcPct val="90000"/>
              </a:lnSpc>
              <a:spcBef>
                <a:spcPts val="1400"/>
              </a:spcBef>
              <a:spcAft>
                <a:spcPts val="0"/>
              </a:spcAft>
              <a:buSzPct val="100000"/>
              <a:buNone/>
            </a:pPr>
            <a:endParaRPr/>
          </a:p>
        </p:txBody>
      </p:sp>
      <p:pic>
        <p:nvPicPr>
          <p:cNvPr id="2392" name="Google Shape;2392;p314"/>
          <p:cNvPicPr preferRelativeResize="0"/>
          <p:nvPr/>
        </p:nvPicPr>
        <p:blipFill rotWithShape="1">
          <a:blip r:embed="rId4">
            <a:alphaModFix/>
          </a:blip>
          <a:srcRect/>
          <a:stretch/>
        </p:blipFill>
        <p:spPr>
          <a:xfrm>
            <a:off x="2274809" y="4451923"/>
            <a:ext cx="8469391" cy="24060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97"/>
        <p:cNvGrpSpPr/>
        <p:nvPr/>
      </p:nvGrpSpPr>
      <p:grpSpPr>
        <a:xfrm>
          <a:off x="0" y="0"/>
          <a:ext cx="0" cy="0"/>
          <a:chOff x="0" y="0"/>
          <a:chExt cx="0" cy="0"/>
        </a:xfrm>
      </p:grpSpPr>
      <p:sp>
        <p:nvSpPr>
          <p:cNvPr id="2398" name="Google Shape;2398;p315"/>
          <p:cNvSpPr txBox="1">
            <a:spLocks noGrp="1"/>
          </p:cNvSpPr>
          <p:nvPr>
            <p:ph type="title"/>
          </p:nvPr>
        </p:nvSpPr>
        <p:spPr>
          <a:xfrm>
            <a:off x="1024128" y="543175"/>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SO FAR…</a:t>
            </a:r>
            <a:endParaRPr/>
          </a:p>
        </p:txBody>
      </p:sp>
      <p:pic>
        <p:nvPicPr>
          <p:cNvPr id="2399" name="Google Shape;2399;p315"/>
          <p:cNvPicPr preferRelativeResize="0">
            <a:picLocks noGrp="1"/>
          </p:cNvPicPr>
          <p:nvPr>
            <p:ph type="body" idx="1"/>
          </p:nvPr>
        </p:nvPicPr>
        <p:blipFill rotWithShape="1">
          <a:blip r:embed="rId3">
            <a:alphaModFix/>
          </a:blip>
          <a:srcRect/>
          <a:stretch/>
        </p:blipFill>
        <p:spPr>
          <a:xfrm>
            <a:off x="1623848" y="2216613"/>
            <a:ext cx="9270125" cy="40982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4"/>
        <p:cNvGrpSpPr/>
        <p:nvPr/>
      </p:nvGrpSpPr>
      <p:grpSpPr>
        <a:xfrm>
          <a:off x="0" y="0"/>
          <a:ext cx="0" cy="0"/>
          <a:chOff x="0" y="0"/>
          <a:chExt cx="0" cy="0"/>
        </a:xfrm>
      </p:grpSpPr>
      <p:sp>
        <p:nvSpPr>
          <p:cNvPr id="2405" name="Google Shape;2405;p316"/>
          <p:cNvSpPr txBox="1">
            <a:spLocks noGrp="1"/>
          </p:cNvSpPr>
          <p:nvPr>
            <p:ph type="title"/>
          </p:nvPr>
        </p:nvSpPr>
        <p:spPr>
          <a:xfrm>
            <a:off x="900553" y="319741"/>
            <a:ext cx="9720000" cy="14997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IT ALL ADDS UP!</a:t>
            </a:r>
            <a:endParaRPr/>
          </a:p>
        </p:txBody>
      </p:sp>
      <p:pic>
        <p:nvPicPr>
          <p:cNvPr id="2406" name="Google Shape;2406;p316"/>
          <p:cNvPicPr preferRelativeResize="0">
            <a:picLocks noGrp="1"/>
          </p:cNvPicPr>
          <p:nvPr>
            <p:ph type="body" idx="1"/>
          </p:nvPr>
        </p:nvPicPr>
        <p:blipFill rotWithShape="1">
          <a:blip r:embed="rId3">
            <a:alphaModFix/>
          </a:blip>
          <a:srcRect/>
          <a:stretch/>
        </p:blipFill>
        <p:spPr>
          <a:xfrm>
            <a:off x="900546" y="2267539"/>
            <a:ext cx="2765198" cy="2839748"/>
          </a:xfrm>
          <a:prstGeom prst="rect">
            <a:avLst/>
          </a:prstGeom>
          <a:noFill/>
          <a:ln>
            <a:noFill/>
          </a:ln>
        </p:spPr>
      </p:pic>
      <p:sp>
        <p:nvSpPr>
          <p:cNvPr id="2407" name="Google Shape;2407;p316"/>
          <p:cNvSpPr txBox="1"/>
          <p:nvPr/>
        </p:nvSpPr>
        <p:spPr>
          <a:xfrm>
            <a:off x="4100945" y="1981789"/>
            <a:ext cx="8091055" cy="4401205"/>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dk1"/>
              </a:buClr>
              <a:buSzPts val="2800"/>
              <a:buFont typeface="Arial"/>
              <a:buChar char="•"/>
            </a:pPr>
            <a:r>
              <a:rPr lang="en-US" sz="2800">
                <a:solidFill>
                  <a:schemeClr val="dk1"/>
                </a:solidFill>
                <a:latin typeface="Twentieth Century"/>
                <a:ea typeface="Twentieth Century"/>
                <a:cs typeface="Twentieth Century"/>
                <a:sym typeface="Twentieth Century"/>
              </a:rPr>
              <a:t>Image size: 32*32*3</a:t>
            </a:r>
            <a:endParaRPr/>
          </a:p>
          <a:p>
            <a:pPr marL="457200" marR="0" lvl="0" indent="-457200" algn="l" rtl="0">
              <a:spcBef>
                <a:spcPts val="0"/>
              </a:spcBef>
              <a:spcAft>
                <a:spcPts val="0"/>
              </a:spcAft>
              <a:buClr>
                <a:schemeClr val="dk1"/>
              </a:buClr>
              <a:buSzPts val="2800"/>
              <a:buFont typeface="Arial"/>
              <a:buChar char="•"/>
            </a:pPr>
            <a:r>
              <a:rPr lang="en-US" sz="2800">
                <a:solidFill>
                  <a:schemeClr val="dk1"/>
                </a:solidFill>
                <a:latin typeface="Twentieth Century"/>
                <a:ea typeface="Twentieth Century"/>
                <a:cs typeface="Twentieth Century"/>
                <a:sym typeface="Twentieth Century"/>
              </a:rPr>
              <a:t>Put it through a convolutional layer consisting of 20 filters of size 7*7*3</a:t>
            </a:r>
            <a:endParaRPr/>
          </a:p>
          <a:p>
            <a:pPr marL="457200" marR="0" lvl="0" indent="-457200" algn="l" rtl="0">
              <a:spcBef>
                <a:spcPts val="0"/>
              </a:spcBef>
              <a:spcAft>
                <a:spcPts val="0"/>
              </a:spcAft>
              <a:buClr>
                <a:schemeClr val="dk1"/>
              </a:buClr>
              <a:buSzPts val="2800"/>
              <a:buFont typeface="Arial"/>
              <a:buChar char="•"/>
            </a:pPr>
            <a:r>
              <a:rPr lang="en-US" sz="2800">
                <a:solidFill>
                  <a:schemeClr val="dk1"/>
                </a:solidFill>
                <a:latin typeface="Twentieth Century"/>
                <a:ea typeface="Twentieth Century"/>
                <a:cs typeface="Twentieth Century"/>
                <a:sym typeface="Twentieth Century"/>
              </a:rPr>
              <a:t>Output would be 26*26*20</a:t>
            </a:r>
            <a:endParaRPr/>
          </a:p>
          <a:p>
            <a:pPr marL="457200" marR="0" lvl="0" indent="-457200" algn="l" rtl="0">
              <a:spcBef>
                <a:spcPts val="0"/>
              </a:spcBef>
              <a:spcAft>
                <a:spcPts val="0"/>
              </a:spcAft>
              <a:buClr>
                <a:schemeClr val="dk1"/>
              </a:buClr>
              <a:buSzPts val="2800"/>
              <a:buFont typeface="Arial"/>
              <a:buChar char="•"/>
            </a:pPr>
            <a:r>
              <a:rPr lang="en-US" sz="2800">
                <a:solidFill>
                  <a:schemeClr val="dk1"/>
                </a:solidFill>
                <a:latin typeface="Twentieth Century"/>
                <a:ea typeface="Twentieth Century"/>
                <a:cs typeface="Twentieth Century"/>
                <a:sym typeface="Twentieth Century"/>
              </a:rPr>
              <a:t>we attach another convolutional layer consisting of 30 new feature detectors, each of which are sized 5x5x20. </a:t>
            </a:r>
            <a:endParaRPr/>
          </a:p>
          <a:p>
            <a:pPr marL="457200" marR="0" lvl="0" indent="-457200" algn="l" rtl="0">
              <a:spcBef>
                <a:spcPts val="0"/>
              </a:spcBef>
              <a:spcAft>
                <a:spcPts val="0"/>
              </a:spcAft>
              <a:buClr>
                <a:schemeClr val="dk1"/>
              </a:buClr>
              <a:buSzPts val="2800"/>
              <a:buFont typeface="Arial"/>
              <a:buChar char="•"/>
            </a:pPr>
            <a:r>
              <a:rPr lang="en-US" sz="2800">
                <a:solidFill>
                  <a:schemeClr val="dk1"/>
                </a:solidFill>
                <a:latin typeface="Twentieth Century"/>
                <a:ea typeface="Twentieth Century"/>
                <a:cs typeface="Twentieth Century"/>
                <a:sym typeface="Twentieth Century"/>
              </a:rPr>
              <a:t>a new activation map of size 22x22</a:t>
            </a:r>
            <a:endParaRPr/>
          </a:p>
          <a:p>
            <a:pPr marL="457200" marR="0" lvl="0" indent="-457200" algn="l" rtl="0">
              <a:spcBef>
                <a:spcPts val="0"/>
              </a:spcBef>
              <a:spcAft>
                <a:spcPts val="0"/>
              </a:spcAft>
              <a:buClr>
                <a:schemeClr val="dk1"/>
              </a:buClr>
              <a:buSzPts val="2800"/>
              <a:buFont typeface="Arial"/>
              <a:buChar char="•"/>
            </a:pPr>
            <a:r>
              <a:rPr lang="en-US" sz="2800">
                <a:solidFill>
                  <a:schemeClr val="dk1"/>
                </a:solidFill>
                <a:latin typeface="Twentieth Century"/>
                <a:ea typeface="Twentieth Century"/>
                <a:cs typeface="Twentieth Century"/>
                <a:sym typeface="Twentieth Century"/>
              </a:rPr>
              <a:t>Since there are 30 of them, that means we’ll have a new volume of size 22x22x30.</a:t>
            </a:r>
            <a:endParaRPr sz="2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2"/>
        <p:cNvGrpSpPr/>
        <p:nvPr/>
      </p:nvGrpSpPr>
      <p:grpSpPr>
        <a:xfrm>
          <a:off x="0" y="0"/>
          <a:ext cx="0" cy="0"/>
          <a:chOff x="0" y="0"/>
          <a:chExt cx="0" cy="0"/>
        </a:xfrm>
      </p:grpSpPr>
      <p:sp>
        <p:nvSpPr>
          <p:cNvPr id="2413" name="Google Shape;2413;p317"/>
          <p:cNvSpPr txBox="1">
            <a:spLocks noGrp="1"/>
          </p:cNvSpPr>
          <p:nvPr>
            <p:ph type="title"/>
          </p:nvPr>
        </p:nvSpPr>
        <p:spPr>
          <a:xfrm>
            <a:off x="914400" y="553685"/>
            <a:ext cx="9720072" cy="149961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0000"/>
              </a:lnSpc>
              <a:spcBef>
                <a:spcPts val="0"/>
              </a:spcBef>
              <a:spcAft>
                <a:spcPts val="0"/>
              </a:spcAft>
              <a:buClr>
                <a:srgbClr val="464132"/>
              </a:buClr>
              <a:buSzPct val="100000"/>
              <a:buFont typeface="Twentieth Century"/>
              <a:buNone/>
            </a:pPr>
            <a:br>
              <a:rPr lang="en-US" sz="5600"/>
            </a:br>
            <a:br>
              <a:rPr lang="en-US" sz="5600"/>
            </a:br>
            <a:r>
              <a:rPr lang="en-US" sz="5600"/>
              <a:t>FULLY CONNECTED LAYER</a:t>
            </a:r>
            <a:br>
              <a:rPr lang="en-US" b="1" i="0">
                <a:solidFill>
                  <a:srgbClr val="111111"/>
                </a:solidFill>
                <a:latin typeface="Open Sans"/>
                <a:ea typeface="Open Sans"/>
                <a:cs typeface="Open Sans"/>
                <a:sym typeface="Open Sans"/>
              </a:rPr>
            </a:br>
            <a:br>
              <a:rPr lang="en-US"/>
            </a:br>
            <a:endParaRPr/>
          </a:p>
        </p:txBody>
      </p:sp>
      <p:sp>
        <p:nvSpPr>
          <p:cNvPr id="2414" name="Google Shape;2414;p317"/>
          <p:cNvSpPr txBox="1">
            <a:spLocks noGrp="1"/>
          </p:cNvSpPr>
          <p:nvPr>
            <p:ph type="body" idx="1"/>
          </p:nvPr>
        </p:nvSpPr>
        <p:spPr>
          <a:xfrm>
            <a:off x="414670" y="2250680"/>
            <a:ext cx="10862930" cy="4207269"/>
          </a:xfrm>
          <a:prstGeom prst="rect">
            <a:avLst/>
          </a:prstGeom>
          <a:noFill/>
          <a:ln>
            <a:noFill/>
          </a:ln>
        </p:spPr>
        <p:txBody>
          <a:bodyPr spcFirstLastPara="1" wrap="square" lIns="45700" tIns="45700" rIns="45700" bIns="45700" anchor="t" anchorCtr="0">
            <a:normAutofit/>
          </a:bodyPr>
          <a:lstStyle/>
          <a:p>
            <a:pPr marL="91440" lvl="0" indent="-177800" algn="just" rtl="0">
              <a:lnSpc>
                <a:spcPct val="90000"/>
              </a:lnSpc>
              <a:spcBef>
                <a:spcPts val="0"/>
              </a:spcBef>
              <a:spcAft>
                <a:spcPts val="0"/>
              </a:spcAft>
              <a:buSzPts val="2800"/>
              <a:buFont typeface="Noto Sans Symbols"/>
              <a:buChar char="❑"/>
            </a:pPr>
            <a:r>
              <a:rPr lang="en-US" sz="2800" b="0" i="0">
                <a:solidFill>
                  <a:srgbClr val="111111"/>
                </a:solidFill>
                <a:latin typeface="Twentieth Century"/>
                <a:ea typeface="Twentieth Century"/>
                <a:cs typeface="Twentieth Century"/>
                <a:sym typeface="Twentieth Century"/>
              </a:rPr>
              <a:t>The Fully Connected layer is a traditional  Multi Layer Perceptron that uses a softmax activation function in the output layer. </a:t>
            </a:r>
            <a:endParaRPr/>
          </a:p>
          <a:p>
            <a:pPr marL="91440" lvl="0" indent="-177800" algn="just" rtl="0">
              <a:lnSpc>
                <a:spcPct val="90000"/>
              </a:lnSpc>
              <a:spcBef>
                <a:spcPts val="1400"/>
              </a:spcBef>
              <a:spcAft>
                <a:spcPts val="0"/>
              </a:spcAft>
              <a:buSzPts val="2800"/>
              <a:buFont typeface="Noto Sans Symbols"/>
              <a:buChar char="❑"/>
            </a:pPr>
            <a:r>
              <a:rPr lang="en-US" sz="2800" b="0" i="0">
                <a:solidFill>
                  <a:srgbClr val="111111"/>
                </a:solidFill>
                <a:latin typeface="Twentieth Century"/>
                <a:ea typeface="Twentieth Century"/>
                <a:cs typeface="Twentieth Century"/>
                <a:sym typeface="Twentieth Century"/>
              </a:rPr>
              <a:t>The term “Fully Connected” implies that every neuron in the previous layer is connected to every neuron in the next layer. </a:t>
            </a:r>
            <a:endParaRPr/>
          </a:p>
          <a:p>
            <a:pPr marL="91440" lvl="0" indent="-177800" algn="just" rtl="0">
              <a:lnSpc>
                <a:spcPct val="90000"/>
              </a:lnSpc>
              <a:spcBef>
                <a:spcPts val="1400"/>
              </a:spcBef>
              <a:spcAft>
                <a:spcPts val="0"/>
              </a:spcAft>
              <a:buSzPts val="2800"/>
              <a:buFont typeface="Noto Sans Symbols"/>
              <a:buChar char="❑"/>
            </a:pPr>
            <a:r>
              <a:rPr lang="en-US" sz="2800" b="0" i="0">
                <a:solidFill>
                  <a:srgbClr val="111111"/>
                </a:solidFill>
                <a:latin typeface="Twentieth Century"/>
                <a:ea typeface="Twentieth Century"/>
                <a:cs typeface="Twentieth Century"/>
                <a:sym typeface="Twentieth Century"/>
              </a:rPr>
              <a:t>The output from the convolutional and pooling layers represent high-level features of the input image. The purpose of the Fully Connected layer is to use these features for classifying the input image into various classes based on the training dataset. </a:t>
            </a:r>
            <a:endParaRPr sz="2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19"/>
        <p:cNvGrpSpPr/>
        <p:nvPr/>
      </p:nvGrpSpPr>
      <p:grpSpPr>
        <a:xfrm>
          <a:off x="0" y="0"/>
          <a:ext cx="0" cy="0"/>
          <a:chOff x="0" y="0"/>
          <a:chExt cx="0" cy="0"/>
        </a:xfrm>
      </p:grpSpPr>
      <p:sp>
        <p:nvSpPr>
          <p:cNvPr id="2420" name="Google Shape;2420;p318"/>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CNN STEPS</a:t>
            </a:r>
            <a:endParaRPr/>
          </a:p>
        </p:txBody>
      </p:sp>
      <p:sp>
        <p:nvSpPr>
          <p:cNvPr id="2421" name="Google Shape;2421;p318"/>
          <p:cNvSpPr txBox="1">
            <a:spLocks noGrp="1"/>
          </p:cNvSpPr>
          <p:nvPr>
            <p:ph type="body" idx="1"/>
          </p:nvPr>
        </p:nvSpPr>
        <p:spPr>
          <a:xfrm>
            <a:off x="249383" y="1814945"/>
            <a:ext cx="11580668" cy="5334000"/>
          </a:xfrm>
          <a:prstGeom prst="rect">
            <a:avLst/>
          </a:prstGeom>
          <a:noFill/>
          <a:ln>
            <a:noFill/>
          </a:ln>
        </p:spPr>
        <p:txBody>
          <a:bodyPr spcFirstLastPara="1" wrap="square" lIns="45700" tIns="45700" rIns="45700" bIns="45700" anchor="t" anchorCtr="0">
            <a:normAutofit/>
          </a:bodyPr>
          <a:lstStyle/>
          <a:p>
            <a:pPr marL="0" lvl="0" indent="0" algn="just" rtl="0">
              <a:lnSpc>
                <a:spcPct val="90000"/>
              </a:lnSpc>
              <a:spcBef>
                <a:spcPts val="0"/>
              </a:spcBef>
              <a:spcAft>
                <a:spcPts val="0"/>
              </a:spcAft>
              <a:buSzPts val="2800"/>
              <a:buNone/>
            </a:pPr>
            <a:r>
              <a:rPr lang="en-US" sz="2800" b="1" i="0">
                <a:solidFill>
                  <a:srgbClr val="111111"/>
                </a:solidFill>
                <a:latin typeface="Twentieth Century"/>
                <a:ea typeface="Twentieth Century"/>
                <a:cs typeface="Twentieth Century"/>
                <a:sym typeface="Twentieth Century"/>
              </a:rPr>
              <a:t>Step1:</a:t>
            </a:r>
            <a:r>
              <a:rPr lang="en-US" sz="2800" b="0" i="0">
                <a:solidFill>
                  <a:srgbClr val="111111"/>
                </a:solidFill>
                <a:latin typeface="Twentieth Century"/>
                <a:ea typeface="Twentieth Century"/>
                <a:cs typeface="Twentieth Century"/>
                <a:sym typeface="Twentieth Century"/>
              </a:rPr>
              <a:t> We initialize all filters and parameters/weights with random values</a:t>
            </a:r>
            <a:endParaRPr/>
          </a:p>
          <a:p>
            <a:pPr marL="0" lvl="0" indent="0" algn="just" rtl="0">
              <a:lnSpc>
                <a:spcPct val="90000"/>
              </a:lnSpc>
              <a:spcBef>
                <a:spcPts val="1400"/>
              </a:spcBef>
              <a:spcAft>
                <a:spcPts val="0"/>
              </a:spcAft>
              <a:buSzPts val="2800"/>
              <a:buNone/>
            </a:pPr>
            <a:r>
              <a:rPr lang="en-US" sz="2800" b="1" i="0">
                <a:solidFill>
                  <a:srgbClr val="111111"/>
                </a:solidFill>
                <a:latin typeface="Twentieth Century"/>
                <a:ea typeface="Twentieth Century"/>
                <a:cs typeface="Twentieth Century"/>
                <a:sym typeface="Twentieth Century"/>
              </a:rPr>
              <a:t>Step2: </a:t>
            </a:r>
            <a:r>
              <a:rPr lang="en-US" sz="2800" b="0" i="0">
                <a:solidFill>
                  <a:srgbClr val="111111"/>
                </a:solidFill>
                <a:latin typeface="Twentieth Century"/>
                <a:ea typeface="Twentieth Century"/>
                <a:cs typeface="Twentieth Century"/>
                <a:sym typeface="Twentieth Century"/>
              </a:rPr>
              <a:t>The network takes a training image as input, goes through the forward propagation step (convolution, ReLU and pooling operations along with forward propagation in the Fully Connected layer) and finds the output probabilities for each class.</a:t>
            </a:r>
            <a:endParaRPr/>
          </a:p>
          <a:p>
            <a:pPr marL="742950" lvl="1" indent="-285750" algn="just" rtl="0">
              <a:lnSpc>
                <a:spcPct val="90000"/>
              </a:lnSpc>
              <a:spcBef>
                <a:spcPts val="400"/>
              </a:spcBef>
              <a:spcAft>
                <a:spcPts val="0"/>
              </a:spcAft>
              <a:buSzPts val="2400"/>
              <a:buFont typeface="Arial"/>
              <a:buChar char="•"/>
            </a:pPr>
            <a:r>
              <a:rPr lang="en-US" sz="2400" b="0" i="0">
                <a:solidFill>
                  <a:srgbClr val="111111"/>
                </a:solidFill>
                <a:latin typeface="Twentieth Century"/>
                <a:ea typeface="Twentieth Century"/>
                <a:cs typeface="Twentieth Century"/>
                <a:sym typeface="Twentieth Century"/>
              </a:rPr>
              <a:t>Lets say the output probabilities for the image above are [0.2, 0.4, 0.1, 0.3]</a:t>
            </a:r>
            <a:endParaRPr/>
          </a:p>
          <a:p>
            <a:pPr marL="742950" lvl="1" indent="-285750" algn="just" rtl="0">
              <a:lnSpc>
                <a:spcPct val="90000"/>
              </a:lnSpc>
              <a:spcBef>
                <a:spcPts val="600"/>
              </a:spcBef>
              <a:spcAft>
                <a:spcPts val="0"/>
              </a:spcAft>
              <a:buSzPts val="2400"/>
              <a:buFont typeface="Arial"/>
              <a:buChar char="•"/>
            </a:pPr>
            <a:r>
              <a:rPr lang="en-US" sz="2400" b="0" i="0">
                <a:solidFill>
                  <a:srgbClr val="111111"/>
                </a:solidFill>
                <a:latin typeface="Twentieth Century"/>
                <a:ea typeface="Twentieth Century"/>
                <a:cs typeface="Twentieth Century"/>
                <a:sym typeface="Twentieth Century"/>
              </a:rPr>
              <a:t>Since weights are randomly assigned for the first training example, output probabilities are also random.</a:t>
            </a:r>
            <a:endParaRPr/>
          </a:p>
          <a:p>
            <a:pPr marL="91440" lvl="0" indent="-177800" algn="just" rtl="0">
              <a:lnSpc>
                <a:spcPct val="90000"/>
              </a:lnSpc>
              <a:spcBef>
                <a:spcPts val="1600"/>
              </a:spcBef>
              <a:spcAft>
                <a:spcPts val="0"/>
              </a:spcAft>
              <a:buSzPts val="2800"/>
              <a:buFont typeface="Arial"/>
              <a:buChar char="•"/>
            </a:pPr>
            <a:r>
              <a:rPr lang="en-US" sz="2800" b="1" i="0">
                <a:solidFill>
                  <a:srgbClr val="111111"/>
                </a:solidFill>
                <a:latin typeface="Twentieth Century"/>
                <a:ea typeface="Twentieth Century"/>
                <a:cs typeface="Twentieth Century"/>
                <a:sym typeface="Twentieth Century"/>
              </a:rPr>
              <a:t>Step3:</a:t>
            </a:r>
            <a:r>
              <a:rPr lang="en-US" sz="2800" b="0" i="0">
                <a:solidFill>
                  <a:srgbClr val="111111"/>
                </a:solidFill>
                <a:latin typeface="Twentieth Century"/>
                <a:ea typeface="Twentieth Century"/>
                <a:cs typeface="Twentieth Century"/>
                <a:sym typeface="Twentieth Century"/>
              </a:rPr>
              <a:t> Calculate the total error at the output layer (summation over all 4 classes)</a:t>
            </a:r>
            <a:endParaRPr/>
          </a:p>
          <a:p>
            <a:pPr marL="742950" lvl="1" indent="-285750" algn="just" rtl="0">
              <a:lnSpc>
                <a:spcPct val="90000"/>
              </a:lnSpc>
              <a:spcBef>
                <a:spcPts val="400"/>
              </a:spcBef>
              <a:spcAft>
                <a:spcPts val="0"/>
              </a:spcAft>
              <a:buSzPts val="2400"/>
              <a:buFont typeface="Arial"/>
              <a:buChar char="•"/>
            </a:pPr>
            <a:r>
              <a:rPr lang="en-US" sz="2400" b="0" i="0">
                <a:solidFill>
                  <a:srgbClr val="111111"/>
                </a:solidFill>
                <a:latin typeface="Twentieth Century"/>
                <a:ea typeface="Twentieth Century"/>
                <a:cs typeface="Twentieth Century"/>
                <a:sym typeface="Twentieth Century"/>
              </a:rPr>
              <a:t> </a:t>
            </a:r>
            <a:r>
              <a:rPr lang="en-US" sz="2400" b="1" i="0">
                <a:solidFill>
                  <a:srgbClr val="111111"/>
                </a:solidFill>
                <a:latin typeface="Twentieth Century"/>
                <a:ea typeface="Twentieth Century"/>
                <a:cs typeface="Twentieth Century"/>
                <a:sym typeface="Twentieth Century"/>
              </a:rPr>
              <a:t>Total Error = ∑  ½ (target probability – output probability) ²</a:t>
            </a:r>
            <a:endParaRPr sz="2400" b="0" i="0">
              <a:solidFill>
                <a:srgbClr val="111111"/>
              </a:solidFill>
              <a:latin typeface="Twentieth Century"/>
              <a:ea typeface="Twentieth Century"/>
              <a:cs typeface="Twentieth Century"/>
              <a:sym typeface="Twentieth Century"/>
            </a:endParaRPr>
          </a:p>
          <a:p>
            <a:pPr marL="91440" lvl="0" indent="0" algn="l" rtl="0">
              <a:lnSpc>
                <a:spcPct val="90000"/>
              </a:lnSpc>
              <a:spcBef>
                <a:spcPts val="1600"/>
              </a:spcBef>
              <a:spcAft>
                <a:spcPts val="0"/>
              </a:spcAft>
              <a:buSzPts val="22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26"/>
        <p:cNvGrpSpPr/>
        <p:nvPr/>
      </p:nvGrpSpPr>
      <p:grpSpPr>
        <a:xfrm>
          <a:off x="0" y="0"/>
          <a:ext cx="0" cy="0"/>
          <a:chOff x="0" y="0"/>
          <a:chExt cx="0" cy="0"/>
        </a:xfrm>
      </p:grpSpPr>
      <p:sp>
        <p:nvSpPr>
          <p:cNvPr id="2427" name="Google Shape;2427;p319"/>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CNN STEPS</a:t>
            </a:r>
            <a:endParaRPr/>
          </a:p>
        </p:txBody>
      </p:sp>
      <p:sp>
        <p:nvSpPr>
          <p:cNvPr id="2428" name="Google Shape;2428;p319"/>
          <p:cNvSpPr txBox="1">
            <a:spLocks noGrp="1"/>
          </p:cNvSpPr>
          <p:nvPr>
            <p:ph type="body" idx="1"/>
          </p:nvPr>
        </p:nvSpPr>
        <p:spPr>
          <a:xfrm>
            <a:off x="748145" y="1925782"/>
            <a:ext cx="10807585" cy="4680758"/>
          </a:xfrm>
          <a:prstGeom prst="rect">
            <a:avLst/>
          </a:prstGeom>
          <a:noFill/>
          <a:ln>
            <a:noFill/>
          </a:ln>
        </p:spPr>
        <p:txBody>
          <a:bodyPr spcFirstLastPara="1" wrap="square" lIns="45700" tIns="45700" rIns="45700" bIns="45700" anchor="t" anchorCtr="0">
            <a:normAutofit fontScale="25000" lnSpcReduction="20000"/>
          </a:bodyPr>
          <a:lstStyle/>
          <a:p>
            <a:pPr marL="91440" lvl="0" indent="-152400" algn="just" rtl="0">
              <a:lnSpc>
                <a:spcPct val="90000"/>
              </a:lnSpc>
              <a:spcBef>
                <a:spcPts val="0"/>
              </a:spcBef>
              <a:spcAft>
                <a:spcPts val="0"/>
              </a:spcAft>
              <a:buSzPct val="100000"/>
              <a:buFont typeface="Arial"/>
              <a:buChar char="•"/>
            </a:pPr>
            <a:r>
              <a:rPr lang="en-US" sz="9600" b="1" i="0">
                <a:solidFill>
                  <a:srgbClr val="111111"/>
                </a:solidFill>
                <a:latin typeface="Twentieth Century"/>
                <a:ea typeface="Twentieth Century"/>
                <a:cs typeface="Twentieth Century"/>
                <a:sym typeface="Twentieth Century"/>
              </a:rPr>
              <a:t>Step4:</a:t>
            </a:r>
            <a:r>
              <a:rPr lang="en-US" sz="9600" b="0" i="0">
                <a:solidFill>
                  <a:srgbClr val="111111"/>
                </a:solidFill>
                <a:latin typeface="Twentieth Century"/>
                <a:ea typeface="Twentieth Century"/>
                <a:cs typeface="Twentieth Century"/>
                <a:sym typeface="Twentieth Century"/>
              </a:rPr>
              <a:t> Use Backpropagation to calculate the </a:t>
            </a:r>
            <a:r>
              <a:rPr lang="en-US" sz="9600" b="0" i="1">
                <a:solidFill>
                  <a:srgbClr val="111111"/>
                </a:solidFill>
                <a:latin typeface="Twentieth Century"/>
                <a:ea typeface="Twentieth Century"/>
                <a:cs typeface="Twentieth Century"/>
                <a:sym typeface="Twentieth Century"/>
              </a:rPr>
              <a:t>gradients</a:t>
            </a:r>
            <a:r>
              <a:rPr lang="en-US" sz="9600" b="0" i="0">
                <a:solidFill>
                  <a:srgbClr val="111111"/>
                </a:solidFill>
                <a:latin typeface="Twentieth Century"/>
                <a:ea typeface="Twentieth Century"/>
                <a:cs typeface="Twentieth Century"/>
                <a:sym typeface="Twentieth Century"/>
              </a:rPr>
              <a:t> of the error with respect to all weights in the network and use </a:t>
            </a:r>
            <a:r>
              <a:rPr lang="en-US" sz="9600" b="0" i="1">
                <a:solidFill>
                  <a:srgbClr val="111111"/>
                </a:solidFill>
                <a:latin typeface="Twentieth Century"/>
                <a:ea typeface="Twentieth Century"/>
                <a:cs typeface="Twentieth Century"/>
                <a:sym typeface="Twentieth Century"/>
              </a:rPr>
              <a:t>gradient descent</a:t>
            </a:r>
            <a:r>
              <a:rPr lang="en-US" sz="9600" b="0" i="0">
                <a:solidFill>
                  <a:srgbClr val="111111"/>
                </a:solidFill>
                <a:latin typeface="Twentieth Century"/>
                <a:ea typeface="Twentieth Century"/>
                <a:cs typeface="Twentieth Century"/>
                <a:sym typeface="Twentieth Century"/>
              </a:rPr>
              <a:t> to update all filter values/weights and parameter values to minimize the output error.</a:t>
            </a:r>
            <a:endParaRPr/>
          </a:p>
          <a:p>
            <a:pPr marL="742950" lvl="1" indent="-285750" algn="just" rtl="0">
              <a:lnSpc>
                <a:spcPct val="90000"/>
              </a:lnSpc>
              <a:spcBef>
                <a:spcPts val="400"/>
              </a:spcBef>
              <a:spcAft>
                <a:spcPts val="0"/>
              </a:spcAft>
              <a:buSzPct val="100000"/>
              <a:buFont typeface="Arial"/>
              <a:buChar char="•"/>
            </a:pPr>
            <a:r>
              <a:rPr lang="en-US" sz="9600" b="0" i="0">
                <a:solidFill>
                  <a:srgbClr val="111111"/>
                </a:solidFill>
                <a:latin typeface="Twentieth Century"/>
                <a:ea typeface="Twentieth Century"/>
                <a:cs typeface="Twentieth Century"/>
                <a:sym typeface="Twentieth Century"/>
              </a:rPr>
              <a:t>The weights are adjusted in proportion to their contribution to the total error.</a:t>
            </a:r>
            <a:endParaRPr/>
          </a:p>
          <a:p>
            <a:pPr marL="742950" lvl="1" indent="-285750" algn="just" rtl="0">
              <a:lnSpc>
                <a:spcPct val="90000"/>
              </a:lnSpc>
              <a:spcBef>
                <a:spcPts val="600"/>
              </a:spcBef>
              <a:spcAft>
                <a:spcPts val="0"/>
              </a:spcAft>
              <a:buSzPct val="100000"/>
              <a:buFont typeface="Arial"/>
              <a:buChar char="•"/>
            </a:pPr>
            <a:r>
              <a:rPr lang="en-US" sz="9600" b="0" i="0">
                <a:solidFill>
                  <a:srgbClr val="111111"/>
                </a:solidFill>
                <a:latin typeface="Twentieth Century"/>
                <a:ea typeface="Twentieth Century"/>
                <a:cs typeface="Twentieth Century"/>
                <a:sym typeface="Twentieth Century"/>
              </a:rPr>
              <a:t>When the same image is input again, output probabilities might now be [0.1, 0.1, 0.7, 0.1], which is closer to the target vector [0, 0, 1, 0].</a:t>
            </a:r>
            <a:endParaRPr/>
          </a:p>
          <a:p>
            <a:pPr marL="742950" lvl="1" indent="-285750" algn="just" rtl="0">
              <a:lnSpc>
                <a:spcPct val="90000"/>
              </a:lnSpc>
              <a:spcBef>
                <a:spcPts val="600"/>
              </a:spcBef>
              <a:spcAft>
                <a:spcPts val="0"/>
              </a:spcAft>
              <a:buSzPct val="100000"/>
              <a:buFont typeface="Arial"/>
              <a:buChar char="•"/>
            </a:pPr>
            <a:r>
              <a:rPr lang="en-US" sz="9600">
                <a:solidFill>
                  <a:srgbClr val="111111"/>
                </a:solidFill>
                <a:latin typeface="Twentieth Century"/>
                <a:ea typeface="Twentieth Century"/>
                <a:cs typeface="Twentieth Century"/>
                <a:sym typeface="Twentieth Century"/>
              </a:rPr>
              <a:t>N</a:t>
            </a:r>
            <a:r>
              <a:rPr lang="en-US" sz="9600" b="0" i="0">
                <a:solidFill>
                  <a:srgbClr val="111111"/>
                </a:solidFill>
                <a:latin typeface="Twentieth Century"/>
                <a:ea typeface="Twentieth Century"/>
                <a:cs typeface="Twentieth Century"/>
                <a:sym typeface="Twentieth Century"/>
              </a:rPr>
              <a:t>etwork has </a:t>
            </a:r>
            <a:r>
              <a:rPr lang="en-US" sz="9600" b="0" i="1">
                <a:solidFill>
                  <a:srgbClr val="111111"/>
                </a:solidFill>
                <a:latin typeface="Twentieth Century"/>
                <a:ea typeface="Twentieth Century"/>
                <a:cs typeface="Twentieth Century"/>
                <a:sym typeface="Twentieth Century"/>
              </a:rPr>
              <a:t>learnt</a:t>
            </a:r>
            <a:r>
              <a:rPr lang="en-US" sz="9600" b="0" i="0">
                <a:solidFill>
                  <a:srgbClr val="111111"/>
                </a:solidFill>
                <a:latin typeface="Twentieth Century"/>
                <a:ea typeface="Twentieth Century"/>
                <a:cs typeface="Twentieth Century"/>
                <a:sym typeface="Twentieth Century"/>
              </a:rPr>
              <a:t> to classify this particular image correctly by adjusting its weights/filters such that the output error is reduced.</a:t>
            </a:r>
            <a:endParaRPr/>
          </a:p>
          <a:p>
            <a:pPr marL="742950" lvl="1" indent="-285750" algn="just" rtl="0">
              <a:lnSpc>
                <a:spcPct val="90000"/>
              </a:lnSpc>
              <a:spcBef>
                <a:spcPts val="600"/>
              </a:spcBef>
              <a:spcAft>
                <a:spcPts val="0"/>
              </a:spcAft>
              <a:buSzPct val="100000"/>
              <a:buFont typeface="Arial"/>
              <a:buChar char="•"/>
            </a:pPr>
            <a:r>
              <a:rPr lang="en-US" sz="9600" b="0" i="0">
                <a:solidFill>
                  <a:srgbClr val="111111"/>
                </a:solidFill>
                <a:latin typeface="Twentieth Century"/>
                <a:ea typeface="Twentieth Century"/>
                <a:cs typeface="Twentieth Century"/>
                <a:sym typeface="Twentieth Century"/>
              </a:rPr>
              <a:t>Parameters like a number of filters, filter sizes, the architecture of the network etc. have all been fixed before Step 1 and do not change during training process – only the values of the filter matrix and connection weights get updated.</a:t>
            </a:r>
            <a:endParaRPr/>
          </a:p>
          <a:p>
            <a:pPr marL="91440" lvl="0" indent="-152400" algn="just" rtl="0">
              <a:lnSpc>
                <a:spcPct val="90000"/>
              </a:lnSpc>
              <a:spcBef>
                <a:spcPts val="1600"/>
              </a:spcBef>
              <a:spcAft>
                <a:spcPts val="0"/>
              </a:spcAft>
              <a:buSzPct val="100000"/>
              <a:buFont typeface="Arial"/>
              <a:buChar char="•"/>
            </a:pPr>
            <a:r>
              <a:rPr lang="en-US" sz="9600" b="1" i="0">
                <a:solidFill>
                  <a:srgbClr val="111111"/>
                </a:solidFill>
                <a:latin typeface="Twentieth Century"/>
                <a:ea typeface="Twentieth Century"/>
                <a:cs typeface="Twentieth Century"/>
                <a:sym typeface="Twentieth Century"/>
              </a:rPr>
              <a:t>Step5:</a:t>
            </a:r>
            <a:r>
              <a:rPr lang="en-US" sz="9600" b="0" i="0">
                <a:solidFill>
                  <a:srgbClr val="111111"/>
                </a:solidFill>
                <a:latin typeface="Twentieth Century"/>
                <a:ea typeface="Twentieth Century"/>
                <a:cs typeface="Twentieth Century"/>
                <a:sym typeface="Twentieth Century"/>
              </a:rPr>
              <a:t> Repeat steps 2-4 with all images in the training set.</a:t>
            </a:r>
            <a:endParaRPr/>
          </a:p>
          <a:p>
            <a:pPr marL="91440" lvl="0" indent="-56514" algn="l" rtl="0">
              <a:lnSpc>
                <a:spcPct val="90000"/>
              </a:lnSpc>
              <a:spcBef>
                <a:spcPts val="1400"/>
              </a:spcBef>
              <a:spcAft>
                <a:spcPts val="0"/>
              </a:spcAft>
              <a:buSzPct val="1000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32"/>
        <p:cNvGrpSpPr/>
        <p:nvPr/>
      </p:nvGrpSpPr>
      <p:grpSpPr>
        <a:xfrm>
          <a:off x="0" y="0"/>
          <a:ext cx="0" cy="0"/>
          <a:chOff x="0" y="0"/>
          <a:chExt cx="0" cy="0"/>
        </a:xfrm>
      </p:grpSpPr>
      <p:sp>
        <p:nvSpPr>
          <p:cNvPr id="2433" name="Google Shape;2433;p320"/>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CNNS WITH KERAS</a:t>
            </a:r>
            <a:endParaRPr/>
          </a:p>
        </p:txBody>
      </p:sp>
      <p:sp>
        <p:nvSpPr>
          <p:cNvPr id="2434" name="Google Shape;2434;p320"/>
          <p:cNvSpPr txBox="1">
            <a:spLocks noGrp="1"/>
          </p:cNvSpPr>
          <p:nvPr>
            <p:ph type="body" idx="1"/>
          </p:nvPr>
        </p:nvSpPr>
        <p:spPr>
          <a:xfrm>
            <a:off x="720437" y="1787236"/>
            <a:ext cx="10698930" cy="4485548"/>
          </a:xfrm>
          <a:prstGeom prst="rect">
            <a:avLst/>
          </a:prstGeom>
          <a:noFill/>
          <a:ln>
            <a:noFill/>
          </a:ln>
        </p:spPr>
        <p:txBody>
          <a:bodyPr spcFirstLastPara="1" wrap="square" lIns="45700" tIns="45700" rIns="45700" bIns="45700" anchor="t" anchorCtr="0">
            <a:normAutofit fontScale="92500"/>
          </a:bodyPr>
          <a:lstStyle/>
          <a:p>
            <a:pPr marL="91440" lvl="0" indent="-164465" algn="l" rtl="0">
              <a:lnSpc>
                <a:spcPct val="90000"/>
              </a:lnSpc>
              <a:spcBef>
                <a:spcPts val="0"/>
              </a:spcBef>
              <a:spcAft>
                <a:spcPts val="0"/>
              </a:spcAft>
              <a:buSzPct val="100000"/>
              <a:buFont typeface="Noto Sans Symbols"/>
              <a:buChar char="❑"/>
            </a:pPr>
            <a:r>
              <a:rPr lang="en-US" sz="2800"/>
              <a:t>Source data must be of appropriate dimensions</a:t>
            </a:r>
            <a:endParaRPr/>
          </a:p>
          <a:p>
            <a:pPr marL="0" lvl="0" indent="0" algn="l" rtl="0">
              <a:lnSpc>
                <a:spcPct val="90000"/>
              </a:lnSpc>
              <a:spcBef>
                <a:spcPts val="1400"/>
              </a:spcBef>
              <a:spcAft>
                <a:spcPts val="0"/>
              </a:spcAft>
              <a:buSzPct val="100000"/>
              <a:buNone/>
            </a:pPr>
            <a:r>
              <a:rPr lang="en-US" sz="2800"/>
              <a:t>	width*length*color channel</a:t>
            </a:r>
            <a:endParaRPr/>
          </a:p>
          <a:p>
            <a:pPr marL="91440" lvl="0" indent="-164465" algn="l" rtl="0">
              <a:lnSpc>
                <a:spcPct val="90000"/>
              </a:lnSpc>
              <a:spcBef>
                <a:spcPts val="1400"/>
              </a:spcBef>
              <a:spcAft>
                <a:spcPts val="0"/>
              </a:spcAft>
              <a:buSzPct val="100000"/>
              <a:buFont typeface="Noto Sans Symbols"/>
              <a:buChar char="❑"/>
            </a:pPr>
            <a:r>
              <a:rPr lang="en-US" sz="2800" b="1"/>
              <a:t>Conv2D layer </a:t>
            </a:r>
            <a:r>
              <a:rPr lang="en-US" sz="2800"/>
              <a:t>type does the actual convolution on a 2D image</a:t>
            </a:r>
            <a:endParaRPr/>
          </a:p>
          <a:p>
            <a:pPr marL="91440" lvl="0" indent="-164465" algn="l" rtl="0">
              <a:lnSpc>
                <a:spcPct val="90000"/>
              </a:lnSpc>
              <a:spcBef>
                <a:spcPts val="1400"/>
              </a:spcBef>
              <a:spcAft>
                <a:spcPts val="0"/>
              </a:spcAft>
              <a:buSzPct val="100000"/>
              <a:buFont typeface="Noto Sans Symbols"/>
              <a:buChar char="❑"/>
            </a:pPr>
            <a:r>
              <a:rPr lang="en-US" sz="2800" b="1"/>
              <a:t>MaxPooling2D layers </a:t>
            </a:r>
            <a:r>
              <a:rPr lang="en-US" sz="2800"/>
              <a:t>can be used to reduce a 2D layer down by taking maximum value in a given block</a:t>
            </a:r>
            <a:endParaRPr/>
          </a:p>
          <a:p>
            <a:pPr marL="91440" lvl="0" indent="-164465" algn="l" rtl="0">
              <a:lnSpc>
                <a:spcPct val="90000"/>
              </a:lnSpc>
              <a:spcBef>
                <a:spcPts val="1400"/>
              </a:spcBef>
              <a:spcAft>
                <a:spcPts val="0"/>
              </a:spcAft>
              <a:buSzPct val="100000"/>
              <a:buFont typeface="Noto Sans Symbols"/>
              <a:buChar char="❑"/>
            </a:pPr>
            <a:r>
              <a:rPr lang="en-US" sz="2800" b="1"/>
              <a:t>Flatten layers </a:t>
            </a:r>
            <a:r>
              <a:rPr lang="en-US" sz="2800"/>
              <a:t>will convert the 2D layer to a 1D layer for passing into a flat hidden layer of neurons</a:t>
            </a:r>
            <a:endParaRPr/>
          </a:p>
          <a:p>
            <a:pPr marL="91440" lvl="0" indent="-164465" algn="l" rtl="0">
              <a:lnSpc>
                <a:spcPct val="90000"/>
              </a:lnSpc>
              <a:spcBef>
                <a:spcPts val="1400"/>
              </a:spcBef>
              <a:spcAft>
                <a:spcPts val="0"/>
              </a:spcAft>
              <a:buSzPct val="100000"/>
              <a:buFont typeface="Noto Sans Symbols"/>
              <a:buChar char="❑"/>
            </a:pPr>
            <a:r>
              <a:rPr lang="en-US" sz="2800"/>
              <a:t>Typical usage:</a:t>
            </a:r>
            <a:endParaRPr/>
          </a:p>
          <a:p>
            <a:pPr marL="91440" lvl="0" indent="-164465" algn="l" rtl="0">
              <a:lnSpc>
                <a:spcPct val="90000"/>
              </a:lnSpc>
              <a:spcBef>
                <a:spcPts val="1400"/>
              </a:spcBef>
              <a:spcAft>
                <a:spcPts val="0"/>
              </a:spcAft>
              <a:buSzPct val="100000"/>
              <a:buFont typeface="Noto Sans Symbols"/>
              <a:buChar char="❑"/>
            </a:pPr>
            <a:r>
              <a:rPr lang="en-US" sz="2800"/>
              <a:t>Conv2D-&gt;MaxPooling2D-&gt;Dropout-&gt;Flatten-&gt;Dense-&gt;Dropout-&gt;Softmax</a:t>
            </a:r>
            <a:endParaRPr sz="2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8"/>
        <p:cNvGrpSpPr/>
        <p:nvPr/>
      </p:nvGrpSpPr>
      <p:grpSpPr>
        <a:xfrm>
          <a:off x="0" y="0"/>
          <a:ext cx="0" cy="0"/>
          <a:chOff x="0" y="0"/>
          <a:chExt cx="0" cy="0"/>
        </a:xfrm>
      </p:grpSpPr>
      <p:sp>
        <p:nvSpPr>
          <p:cNvPr id="2439" name="Google Shape;2439;p321"/>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CONFIGURATION OF CNN</a:t>
            </a:r>
            <a:endParaRPr/>
          </a:p>
        </p:txBody>
      </p:sp>
      <p:sp>
        <p:nvSpPr>
          <p:cNvPr id="2440" name="Google Shape;2440;p321"/>
          <p:cNvSpPr txBox="1">
            <a:spLocks noGrp="1"/>
          </p:cNvSpPr>
          <p:nvPr>
            <p:ph type="body" idx="1"/>
          </p:nvPr>
        </p:nvSpPr>
        <p:spPr>
          <a:xfrm>
            <a:off x="913774" y="2367092"/>
            <a:ext cx="10363826" cy="3424107"/>
          </a:xfrm>
          <a:prstGeom prst="rect">
            <a:avLst/>
          </a:prstGeom>
          <a:noFill/>
          <a:ln>
            <a:noFill/>
          </a:ln>
        </p:spPr>
        <p:txBody>
          <a:bodyPr spcFirstLastPara="1" wrap="square" lIns="45700" tIns="45700" rIns="45700" bIns="45700" anchor="t" anchorCtr="0">
            <a:normAutofit/>
          </a:bodyPr>
          <a:lstStyle/>
          <a:p>
            <a:pPr marL="91440" lvl="0" indent="-228600" algn="l" rtl="0">
              <a:lnSpc>
                <a:spcPct val="90000"/>
              </a:lnSpc>
              <a:spcBef>
                <a:spcPts val="0"/>
              </a:spcBef>
              <a:spcAft>
                <a:spcPts val="0"/>
              </a:spcAft>
              <a:buSzPts val="3600"/>
              <a:buChar char=" "/>
            </a:pPr>
            <a:r>
              <a:rPr lang="en-US" sz="3600" u="sng"/>
              <a:t>Lots of hyperparameters</a:t>
            </a:r>
            <a:endParaRPr/>
          </a:p>
          <a:p>
            <a:pPr marL="91440" lvl="0" indent="-177800" algn="l" rtl="0">
              <a:lnSpc>
                <a:spcPct val="90000"/>
              </a:lnSpc>
              <a:spcBef>
                <a:spcPts val="1400"/>
              </a:spcBef>
              <a:spcAft>
                <a:spcPts val="0"/>
              </a:spcAft>
              <a:buSzPts val="2800"/>
              <a:buFont typeface="Noto Sans Symbols"/>
              <a:buChar char="❑"/>
            </a:pPr>
            <a:r>
              <a:rPr lang="en-US" sz="2800"/>
              <a:t>Kernel sizes</a:t>
            </a:r>
            <a:endParaRPr/>
          </a:p>
          <a:p>
            <a:pPr marL="91440" lvl="0" indent="-177800" algn="l" rtl="0">
              <a:lnSpc>
                <a:spcPct val="90000"/>
              </a:lnSpc>
              <a:spcBef>
                <a:spcPts val="1400"/>
              </a:spcBef>
              <a:spcAft>
                <a:spcPts val="0"/>
              </a:spcAft>
              <a:buSzPts val="2800"/>
              <a:buFont typeface="Noto Sans Symbols"/>
              <a:buChar char="❑"/>
            </a:pPr>
            <a:r>
              <a:rPr lang="en-US" sz="2800"/>
              <a:t>Many layers with different number of units</a:t>
            </a:r>
            <a:endParaRPr/>
          </a:p>
          <a:p>
            <a:pPr marL="91440" lvl="0" indent="-177800" algn="l" rtl="0">
              <a:lnSpc>
                <a:spcPct val="90000"/>
              </a:lnSpc>
              <a:spcBef>
                <a:spcPts val="1400"/>
              </a:spcBef>
              <a:spcAft>
                <a:spcPts val="0"/>
              </a:spcAft>
              <a:buSzPts val="2800"/>
              <a:buFont typeface="Noto Sans Symbols"/>
              <a:buChar char="❑"/>
            </a:pPr>
            <a:r>
              <a:rPr lang="en-US" sz="2800"/>
              <a:t>Amount of pooling in addition to the usual stuff like number of layers, choice of optimizer</a:t>
            </a:r>
            <a:endParaRPr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4"/>
        <p:cNvGrpSpPr/>
        <p:nvPr/>
      </p:nvGrpSpPr>
      <p:grpSpPr>
        <a:xfrm>
          <a:off x="0" y="0"/>
          <a:ext cx="0" cy="0"/>
          <a:chOff x="0" y="0"/>
          <a:chExt cx="0" cy="0"/>
        </a:xfrm>
      </p:grpSpPr>
      <p:sp>
        <p:nvSpPr>
          <p:cNvPr id="2445" name="Google Shape;2445;p322"/>
          <p:cNvSpPr txBox="1">
            <a:spLocks noGrp="1"/>
          </p:cNvSpPr>
          <p:nvPr>
            <p:ph type="title"/>
          </p:nvPr>
        </p:nvSpPr>
        <p:spPr>
          <a:xfrm>
            <a:off x="1024128" y="585216"/>
            <a:ext cx="9720072" cy="1499616"/>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464132"/>
              </a:buClr>
              <a:buSzPts val="5000"/>
              <a:buFont typeface="Twentieth Century"/>
              <a:buNone/>
            </a:pPr>
            <a:r>
              <a:rPr lang="en-US"/>
              <a:t>SPECIALIZED CNN ARCHITECTURES</a:t>
            </a:r>
            <a:endParaRPr/>
          </a:p>
        </p:txBody>
      </p:sp>
      <p:sp>
        <p:nvSpPr>
          <p:cNvPr id="2446" name="Google Shape;2446;p322"/>
          <p:cNvSpPr txBox="1">
            <a:spLocks noGrp="1"/>
          </p:cNvSpPr>
          <p:nvPr>
            <p:ph type="body" idx="1"/>
          </p:nvPr>
        </p:nvSpPr>
        <p:spPr>
          <a:xfrm>
            <a:off x="680484" y="1786270"/>
            <a:ext cx="11206716" cy="4795283"/>
          </a:xfrm>
          <a:prstGeom prst="rect">
            <a:avLst/>
          </a:prstGeom>
          <a:noFill/>
          <a:ln>
            <a:noFill/>
          </a:ln>
        </p:spPr>
        <p:txBody>
          <a:bodyPr spcFirstLastPara="1" wrap="square" lIns="45700" tIns="45700" rIns="45700" bIns="45700" anchor="t" anchorCtr="0">
            <a:normAutofit lnSpcReduction="10000"/>
          </a:bodyPr>
          <a:lstStyle/>
          <a:p>
            <a:pPr marL="91440" lvl="0" indent="-152400" algn="l" rtl="0">
              <a:lnSpc>
                <a:spcPct val="90000"/>
              </a:lnSpc>
              <a:spcBef>
                <a:spcPts val="0"/>
              </a:spcBef>
              <a:spcAft>
                <a:spcPts val="0"/>
              </a:spcAft>
              <a:buSzPts val="2400"/>
              <a:buFont typeface="Noto Sans Symbols"/>
              <a:buChar char="❑"/>
            </a:pPr>
            <a:r>
              <a:rPr lang="en-US" sz="2400"/>
              <a:t>Defines specific arrangement of layers, padding and hyperparameters</a:t>
            </a:r>
            <a:endParaRPr/>
          </a:p>
          <a:p>
            <a:pPr marL="91440" lvl="0" indent="-152400" algn="l" rtl="0">
              <a:lnSpc>
                <a:spcPct val="90000"/>
              </a:lnSpc>
              <a:spcBef>
                <a:spcPts val="1400"/>
              </a:spcBef>
              <a:spcAft>
                <a:spcPts val="0"/>
              </a:spcAft>
              <a:buSzPts val="2400"/>
              <a:buFont typeface="Noto Sans Symbols"/>
              <a:buChar char="❑"/>
            </a:pPr>
            <a:r>
              <a:rPr lang="en-US" sz="2400"/>
              <a:t>LeNet-5</a:t>
            </a:r>
            <a:endParaRPr/>
          </a:p>
          <a:p>
            <a:pPr marL="0" lvl="0" indent="0" algn="l" rtl="0">
              <a:lnSpc>
                <a:spcPct val="90000"/>
              </a:lnSpc>
              <a:spcBef>
                <a:spcPts val="1400"/>
              </a:spcBef>
              <a:spcAft>
                <a:spcPts val="0"/>
              </a:spcAft>
              <a:buSzPts val="2400"/>
              <a:buNone/>
            </a:pPr>
            <a:r>
              <a:rPr lang="en-US" sz="2400"/>
              <a:t>	Good for handwriting recognition</a:t>
            </a:r>
            <a:endParaRPr/>
          </a:p>
          <a:p>
            <a:pPr marL="91440" lvl="0" indent="-152400" algn="l" rtl="0">
              <a:lnSpc>
                <a:spcPct val="90000"/>
              </a:lnSpc>
              <a:spcBef>
                <a:spcPts val="1400"/>
              </a:spcBef>
              <a:spcAft>
                <a:spcPts val="0"/>
              </a:spcAft>
              <a:buSzPts val="2400"/>
              <a:buFont typeface="Noto Sans Symbols"/>
              <a:buChar char="❑"/>
            </a:pPr>
            <a:r>
              <a:rPr lang="en-US" sz="2400"/>
              <a:t>AlexNet</a:t>
            </a:r>
            <a:endParaRPr sz="2400"/>
          </a:p>
          <a:p>
            <a:pPr marL="0" lvl="0" indent="0" algn="l" rtl="0">
              <a:lnSpc>
                <a:spcPct val="90000"/>
              </a:lnSpc>
              <a:spcBef>
                <a:spcPts val="1400"/>
              </a:spcBef>
              <a:spcAft>
                <a:spcPts val="0"/>
              </a:spcAft>
              <a:buSzPts val="2400"/>
              <a:buNone/>
            </a:pPr>
            <a:r>
              <a:rPr lang="en-US" sz="2400"/>
              <a:t>	Image classification, deeper than LeNet</a:t>
            </a:r>
            <a:endParaRPr sz="2400"/>
          </a:p>
          <a:p>
            <a:pPr marL="91440" lvl="0" indent="-152400" algn="l" rtl="0">
              <a:lnSpc>
                <a:spcPct val="90000"/>
              </a:lnSpc>
              <a:spcBef>
                <a:spcPts val="1400"/>
              </a:spcBef>
              <a:spcAft>
                <a:spcPts val="0"/>
              </a:spcAft>
              <a:buSzPts val="2400"/>
              <a:buFont typeface="Noto Sans Symbols"/>
              <a:buChar char="❑"/>
            </a:pPr>
            <a:r>
              <a:rPr lang="en-US" sz="2400"/>
              <a:t>GoogLeNet</a:t>
            </a:r>
            <a:endParaRPr sz="2400"/>
          </a:p>
          <a:p>
            <a:pPr marL="0" lvl="0" indent="0" algn="l" rtl="0">
              <a:lnSpc>
                <a:spcPct val="90000"/>
              </a:lnSpc>
              <a:spcBef>
                <a:spcPts val="1400"/>
              </a:spcBef>
              <a:spcAft>
                <a:spcPts val="0"/>
              </a:spcAft>
              <a:buSzPts val="2400"/>
              <a:buNone/>
            </a:pPr>
            <a:r>
              <a:rPr lang="en-US" sz="2400"/>
              <a:t>	Even deeper, but with better performance</a:t>
            </a:r>
            <a:endParaRPr/>
          </a:p>
          <a:p>
            <a:pPr marL="0" lvl="0" indent="0" algn="l" rtl="0">
              <a:lnSpc>
                <a:spcPct val="90000"/>
              </a:lnSpc>
              <a:spcBef>
                <a:spcPts val="1400"/>
              </a:spcBef>
              <a:spcAft>
                <a:spcPts val="0"/>
              </a:spcAft>
              <a:buSzPts val="2400"/>
              <a:buNone/>
            </a:pPr>
            <a:r>
              <a:rPr lang="en-US" sz="2400"/>
              <a:t>	Introduces inception modules(groups of convolution layers)</a:t>
            </a:r>
            <a:endParaRPr/>
          </a:p>
          <a:p>
            <a:pPr marL="91440" lvl="0" indent="-152400" algn="l" rtl="0">
              <a:lnSpc>
                <a:spcPct val="90000"/>
              </a:lnSpc>
              <a:spcBef>
                <a:spcPts val="1400"/>
              </a:spcBef>
              <a:spcAft>
                <a:spcPts val="0"/>
              </a:spcAft>
              <a:buSzPts val="2400"/>
              <a:buFont typeface="Noto Sans Symbols"/>
              <a:buChar char="❑"/>
            </a:pPr>
            <a:r>
              <a:rPr lang="en-US" sz="2400"/>
              <a:t>ResNet</a:t>
            </a:r>
            <a:endParaRPr sz="2400"/>
          </a:p>
          <a:p>
            <a:pPr marL="0" lvl="0" indent="0" algn="l" rtl="0">
              <a:lnSpc>
                <a:spcPct val="90000"/>
              </a:lnSpc>
              <a:spcBef>
                <a:spcPts val="1400"/>
              </a:spcBef>
              <a:spcAft>
                <a:spcPts val="0"/>
              </a:spcAft>
              <a:buSzPts val="2400"/>
              <a:buNone/>
            </a:pPr>
            <a:r>
              <a:rPr lang="en-US" sz="2400"/>
              <a:t>	Even deeper, maintains performance via skip connections</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2172</Words>
  <Application>Microsoft Office PowerPoint</Application>
  <PresentationFormat>Widescreen</PresentationFormat>
  <Paragraphs>137</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Noto Sans Symbols</vt:lpstr>
      <vt:lpstr>Open Sans</vt:lpstr>
      <vt:lpstr>Twentieth Century</vt:lpstr>
      <vt:lpstr>Office Theme</vt:lpstr>
      <vt:lpstr>PowerPoint Presentation</vt:lpstr>
      <vt:lpstr>CONVOLUTIONAL NEURAL NETWORK</vt:lpstr>
      <vt:lpstr>CONVOLUTIONAL NEURAL NETWORK</vt:lpstr>
      <vt:lpstr>WHY CNN?</vt:lpstr>
      <vt:lpstr>CNNS – HOW DO THEY WORK?</vt:lpstr>
      <vt:lpstr>BUILDING BLOCKS OF CNN</vt:lpstr>
      <vt:lpstr>CONVOLUTION</vt:lpstr>
      <vt:lpstr>PowerPoint Presentation</vt:lpstr>
      <vt:lpstr>RELU</vt:lpstr>
      <vt:lpstr>THE POOLING STEP </vt:lpstr>
      <vt:lpstr>WHY POOLING?</vt:lpstr>
      <vt:lpstr>SO FAR…</vt:lpstr>
      <vt:lpstr>IT ALL ADDS UP!</vt:lpstr>
      <vt:lpstr>  FULLY CONNECTED LAYER  </vt:lpstr>
      <vt:lpstr>CNN STEPS</vt:lpstr>
      <vt:lpstr>CNN STEPS</vt:lpstr>
      <vt:lpstr>CNNS WITH KERAS</vt:lpstr>
      <vt:lpstr>CONFIGURATION OF CNN</vt:lpstr>
      <vt:lpstr>SPECIALIZED CNN ARCHITECTURES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Vineet Kumar</dc:creator>
  <cp:lastModifiedBy>Vineet Kumar</cp:lastModifiedBy>
  <cp:revision>1</cp:revision>
  <dcterms:created xsi:type="dcterms:W3CDTF">2026-01-31T01:33:58Z</dcterms:created>
  <dcterms:modified xsi:type="dcterms:W3CDTF">2026-01-31T01:34:04Z</dcterms:modified>
</cp:coreProperties>
</file>